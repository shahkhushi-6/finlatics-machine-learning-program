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305" r:id="rId5"/>
    <p:sldId id="306" r:id="rId6"/>
    <p:sldId id="307" r:id="rId7"/>
    <p:sldId id="308" r:id="rId8"/>
    <p:sldId id="309" r:id="rId9"/>
    <p:sldId id="310" r:id="rId10"/>
    <p:sldId id="311" r:id="rId11"/>
    <p:sldId id="312" r:id="rId12"/>
    <p:sldId id="313" r:id="rId13"/>
    <p:sldId id="314" r:id="rId14"/>
    <p:sldId id="315" r:id="rId15"/>
    <p:sldId id="316" r:id="rId16"/>
    <p:sldId id="317" r:id="rId17"/>
    <p:sldId id="31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792" userDrawn="1">
          <p15:clr>
            <a:srgbClr val="A4A3A4"/>
          </p15:clr>
        </p15:guide>
        <p15:guide id="3" pos="528" userDrawn="1">
          <p15:clr>
            <a:srgbClr val="A4A3A4"/>
          </p15:clr>
        </p15:guide>
        <p15:guide id="4" pos="7128" userDrawn="1">
          <p15:clr>
            <a:srgbClr val="A4A3A4"/>
          </p15:clr>
        </p15:guide>
        <p15:guide id="5" orient="horz" pos="2808" userDrawn="1">
          <p15:clr>
            <a:srgbClr val="A4A3A4"/>
          </p15:clr>
        </p15:guide>
        <p15:guide id="6" pos="2976" userDrawn="1">
          <p15:clr>
            <a:srgbClr val="A4A3A4"/>
          </p15:clr>
        </p15:guide>
        <p15:guide id="7"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68B824-1EB6-4D05-4FF3-06A0F73440D5}" v="468" dt="2025-06-21T05:51:12.577"/>
    <p1510:client id="{39EFD0C8-854F-83BA-56FD-CAD695DBC99C}" v="19" dt="2025-06-22T14:56:20.730"/>
    <p1510:client id="{500CD737-7F75-1D69-2846-EF4A77287486}" v="1189" dt="2025-06-20T20:40:27.866"/>
    <p1510:client id="{CA1F0FEE-81D3-02C7-696C-5165386646BA}" v="3124" dt="2025-06-20T19:45:12.666"/>
  </p1510:revLst>
</p1510:revInfo>
</file>

<file path=ppt/tableStyles.xml><?xml version="1.0" encoding="utf-8"?>
<a:tblStyleLst xmlns:a="http://schemas.openxmlformats.org/drawingml/2006/main" def="{68D230F3-CF80-4859-8CE7-A43EE81993B5}">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77"/>
    <p:restoredTop sz="94682"/>
  </p:normalViewPr>
  <p:slideViewPr>
    <p:cSldViewPr snapToGrid="0">
      <p:cViewPr>
        <p:scale>
          <a:sx n="100" d="100"/>
          <a:sy n="100" d="100"/>
        </p:scale>
        <p:origin x="-312" y="-768"/>
      </p:cViewPr>
      <p:guideLst>
        <p:guide orient="horz" pos="3792"/>
        <p:guide pos="528"/>
        <p:guide pos="7128"/>
        <p:guide orient="horz" pos="2808"/>
        <p:guide pos="2976"/>
        <p:guide orient="horz" pos="9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8A626B-90D7-4334-9413-E33DD8B75B2B}" type="doc">
      <dgm:prSet loTypeId="urn:microsoft.com/office/officeart/2005/8/layout/arrow1" loCatId="relationship" qsTypeId="urn:microsoft.com/office/officeart/2005/8/quickstyle/simple4" qsCatId="simple" csTypeId="urn:microsoft.com/office/officeart/2005/8/colors/accent6_2" csCatId="accent6" phldr="1"/>
      <dgm:spPr/>
      <dgm:t>
        <a:bodyPr/>
        <a:lstStyle/>
        <a:p>
          <a:endParaRPr lang="en-US"/>
        </a:p>
      </dgm:t>
    </dgm:pt>
    <dgm:pt modelId="{65259BC1-03D1-422C-A06C-3ECEC845F0F3}">
      <dgm:prSet phldrT="[Text]" phldr="0"/>
      <dgm:spPr/>
      <dgm:t>
        <a:bodyPr/>
        <a:lstStyle/>
        <a:p>
          <a:pPr rtl="0"/>
          <a:r>
            <a:rPr lang="en-US" dirty="0">
              <a:latin typeface="Aptos"/>
            </a:rPr>
            <a:t>Indirect proportionality</a:t>
          </a:r>
          <a:endParaRPr lang="en-US" dirty="0"/>
        </a:p>
      </dgm:t>
    </dgm:pt>
    <dgm:pt modelId="{1336588A-DCAF-45E1-BD50-8164D247608F}" type="parTrans" cxnId="{8C817AE1-4AC2-47FE-A2A6-4154AFB107EB}">
      <dgm:prSet/>
      <dgm:spPr/>
      <dgm:t>
        <a:bodyPr/>
        <a:lstStyle/>
        <a:p>
          <a:endParaRPr lang="en-US"/>
        </a:p>
      </dgm:t>
    </dgm:pt>
    <dgm:pt modelId="{2F0DD276-22CB-412C-B820-22D2A3E9E3CF}" type="sibTrans" cxnId="{8C817AE1-4AC2-47FE-A2A6-4154AFB107EB}">
      <dgm:prSet/>
      <dgm:spPr/>
      <dgm:t>
        <a:bodyPr/>
        <a:lstStyle/>
        <a:p>
          <a:endParaRPr lang="en-US"/>
        </a:p>
      </dgm:t>
    </dgm:pt>
    <dgm:pt modelId="{B18505A3-F0D8-41A4-AA1E-66F175B629AC}">
      <dgm:prSet phldrT="[Text]" phldr="0"/>
      <dgm:spPr/>
      <dgm:t>
        <a:bodyPr/>
        <a:lstStyle/>
        <a:p>
          <a:pPr rtl="0"/>
          <a:r>
            <a:rPr lang="en-US" dirty="0">
              <a:latin typeface="Aptos"/>
            </a:rPr>
            <a:t>Direct proportionality</a:t>
          </a:r>
          <a:endParaRPr lang="en-US" dirty="0"/>
        </a:p>
      </dgm:t>
    </dgm:pt>
    <dgm:pt modelId="{E4E4245A-0995-45D5-9A5D-DF38A31ECFA2}" type="parTrans" cxnId="{017B10EA-1A07-44DF-A619-F6A2A5F385DB}">
      <dgm:prSet/>
      <dgm:spPr/>
      <dgm:t>
        <a:bodyPr/>
        <a:lstStyle/>
        <a:p>
          <a:endParaRPr lang="en-US"/>
        </a:p>
      </dgm:t>
    </dgm:pt>
    <dgm:pt modelId="{AFE0187D-3DB5-4AC2-BFCC-928EB5C3EEF7}" type="sibTrans" cxnId="{017B10EA-1A07-44DF-A619-F6A2A5F385DB}">
      <dgm:prSet/>
      <dgm:spPr/>
      <dgm:t>
        <a:bodyPr/>
        <a:lstStyle/>
        <a:p>
          <a:endParaRPr lang="en-US"/>
        </a:p>
      </dgm:t>
    </dgm:pt>
    <dgm:pt modelId="{C2FC65B7-7649-4028-95B6-4F1AD1D35787}" type="pres">
      <dgm:prSet presAssocID="{7F8A626B-90D7-4334-9413-E33DD8B75B2B}" presName="cycle" presStyleCnt="0">
        <dgm:presLayoutVars>
          <dgm:dir/>
          <dgm:resizeHandles val="exact"/>
        </dgm:presLayoutVars>
      </dgm:prSet>
      <dgm:spPr/>
    </dgm:pt>
    <dgm:pt modelId="{A1EBF420-C62C-4A6C-B2CE-8ACBF7E87B14}" type="pres">
      <dgm:prSet presAssocID="{65259BC1-03D1-422C-A06C-3ECEC845F0F3}" presName="arrow" presStyleLbl="node1" presStyleIdx="0" presStyleCnt="2">
        <dgm:presLayoutVars>
          <dgm:bulletEnabled val="1"/>
        </dgm:presLayoutVars>
      </dgm:prSet>
      <dgm:spPr/>
    </dgm:pt>
    <dgm:pt modelId="{0C4411BE-3556-48A6-B50F-104B394A6F48}" type="pres">
      <dgm:prSet presAssocID="{B18505A3-F0D8-41A4-AA1E-66F175B629AC}" presName="arrow" presStyleLbl="node1" presStyleIdx="1" presStyleCnt="2">
        <dgm:presLayoutVars>
          <dgm:bulletEnabled val="1"/>
        </dgm:presLayoutVars>
      </dgm:prSet>
      <dgm:spPr/>
    </dgm:pt>
  </dgm:ptLst>
  <dgm:cxnLst>
    <dgm:cxn modelId="{1EE5AA05-1B84-4C53-A899-8D7AFBB6FAFF}" type="presOf" srcId="{B18505A3-F0D8-41A4-AA1E-66F175B629AC}" destId="{0C4411BE-3556-48A6-B50F-104B394A6F48}" srcOrd="0" destOrd="0" presId="urn:microsoft.com/office/officeart/2005/8/layout/arrow1"/>
    <dgm:cxn modelId="{B265090F-67B4-4511-BFFD-4141347BB1EC}" type="presOf" srcId="{7F8A626B-90D7-4334-9413-E33DD8B75B2B}" destId="{C2FC65B7-7649-4028-95B6-4F1AD1D35787}" srcOrd="0" destOrd="0" presId="urn:microsoft.com/office/officeart/2005/8/layout/arrow1"/>
    <dgm:cxn modelId="{04594389-1F2C-477E-ABF8-782FBF1CD530}" type="presOf" srcId="{65259BC1-03D1-422C-A06C-3ECEC845F0F3}" destId="{A1EBF420-C62C-4A6C-B2CE-8ACBF7E87B14}" srcOrd="0" destOrd="0" presId="urn:microsoft.com/office/officeart/2005/8/layout/arrow1"/>
    <dgm:cxn modelId="{8C817AE1-4AC2-47FE-A2A6-4154AFB107EB}" srcId="{7F8A626B-90D7-4334-9413-E33DD8B75B2B}" destId="{65259BC1-03D1-422C-A06C-3ECEC845F0F3}" srcOrd="0" destOrd="0" parTransId="{1336588A-DCAF-45E1-BD50-8164D247608F}" sibTransId="{2F0DD276-22CB-412C-B820-22D2A3E9E3CF}"/>
    <dgm:cxn modelId="{017B10EA-1A07-44DF-A619-F6A2A5F385DB}" srcId="{7F8A626B-90D7-4334-9413-E33DD8B75B2B}" destId="{B18505A3-F0D8-41A4-AA1E-66F175B629AC}" srcOrd="1" destOrd="0" parTransId="{E4E4245A-0995-45D5-9A5D-DF38A31ECFA2}" sibTransId="{AFE0187D-3DB5-4AC2-BFCC-928EB5C3EEF7}"/>
    <dgm:cxn modelId="{C52DCBC2-2BAC-4CC0-91BD-D0B89C5A2AFA}" type="presParOf" srcId="{C2FC65B7-7649-4028-95B6-4F1AD1D35787}" destId="{A1EBF420-C62C-4A6C-B2CE-8ACBF7E87B14}" srcOrd="0" destOrd="0" presId="urn:microsoft.com/office/officeart/2005/8/layout/arrow1"/>
    <dgm:cxn modelId="{3FA432CB-EE60-4620-B5EA-87F0BE5016B6}" type="presParOf" srcId="{C2FC65B7-7649-4028-95B6-4F1AD1D35787}" destId="{0C4411BE-3556-48A6-B50F-104B394A6F48}" srcOrd="1" destOrd="0" presId="urn:microsoft.com/office/officeart/2005/8/layout/arrow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EBF420-C62C-4A6C-B2CE-8ACBF7E87B14}">
      <dsp:nvSpPr>
        <dsp:cNvPr id="0" name=""/>
        <dsp:cNvSpPr/>
      </dsp:nvSpPr>
      <dsp:spPr>
        <a:xfrm rot="16200000">
          <a:off x="79" y="30591"/>
          <a:ext cx="914176" cy="914176"/>
        </a:xfrm>
        <a:prstGeom prst="upArrow">
          <a:avLst>
            <a:gd name="adj1" fmla="val 50000"/>
            <a:gd name="adj2" fmla="val 35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784" tIns="49784" rIns="49784" bIns="49784" numCol="1" spcCol="1270" anchor="ctr" anchorCtr="0">
          <a:noAutofit/>
        </a:bodyPr>
        <a:lstStyle/>
        <a:p>
          <a:pPr marL="0" lvl="0" indent="0" algn="ctr" defTabSz="311150" rtl="0">
            <a:lnSpc>
              <a:spcPct val="90000"/>
            </a:lnSpc>
            <a:spcBef>
              <a:spcPct val="0"/>
            </a:spcBef>
            <a:spcAft>
              <a:spcPct val="35000"/>
            </a:spcAft>
            <a:buNone/>
          </a:pPr>
          <a:r>
            <a:rPr lang="en-US" sz="700" kern="1200" dirty="0">
              <a:latin typeface="Aptos"/>
            </a:rPr>
            <a:t>Indirect proportionality</a:t>
          </a:r>
          <a:endParaRPr lang="en-US" sz="700" kern="1200" dirty="0"/>
        </a:p>
      </dsp:txBody>
      <dsp:txXfrm rot="5400000">
        <a:off x="160061" y="259134"/>
        <a:ext cx="754195" cy="457088"/>
      </dsp:txXfrm>
    </dsp:sp>
    <dsp:sp modelId="{0C4411BE-3556-48A6-B50F-104B394A6F48}">
      <dsp:nvSpPr>
        <dsp:cNvPr id="0" name=""/>
        <dsp:cNvSpPr/>
      </dsp:nvSpPr>
      <dsp:spPr>
        <a:xfrm rot="5400000">
          <a:off x="1005983" y="30591"/>
          <a:ext cx="914176" cy="914176"/>
        </a:xfrm>
        <a:prstGeom prst="upArrow">
          <a:avLst>
            <a:gd name="adj1" fmla="val 50000"/>
            <a:gd name="adj2" fmla="val 35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784" tIns="49784" rIns="49784" bIns="49784" numCol="1" spcCol="1270" anchor="ctr" anchorCtr="0">
          <a:noAutofit/>
        </a:bodyPr>
        <a:lstStyle/>
        <a:p>
          <a:pPr marL="0" lvl="0" indent="0" algn="ctr" defTabSz="311150" rtl="0">
            <a:lnSpc>
              <a:spcPct val="90000"/>
            </a:lnSpc>
            <a:spcBef>
              <a:spcPct val="0"/>
            </a:spcBef>
            <a:spcAft>
              <a:spcPct val="35000"/>
            </a:spcAft>
            <a:buNone/>
          </a:pPr>
          <a:r>
            <a:rPr lang="en-US" sz="700" kern="1200" dirty="0">
              <a:latin typeface="Aptos"/>
            </a:rPr>
            <a:t>Direct proportionality</a:t>
          </a:r>
          <a:endParaRPr lang="en-US" sz="700" kern="1200" dirty="0"/>
        </a:p>
      </dsp:txBody>
      <dsp:txXfrm rot="-5400000">
        <a:off x="1005984" y="259135"/>
        <a:ext cx="754195" cy="457088"/>
      </dsp:txXfrm>
    </dsp:sp>
  </dsp:spTree>
</dsp:drawing>
</file>

<file path=ppt/diagrams/layout1.xml><?xml version="1.0" encoding="utf-8"?>
<dgm:layoutDef xmlns:dgm="http://schemas.openxmlformats.org/drawingml/2006/diagram" xmlns:a="http://schemas.openxmlformats.org/drawingml/2006/main" uniqueId="urn:microsoft.com/office/officeart/2005/8/layout/arrow1">
  <dgm:title val=""/>
  <dgm:desc val=""/>
  <dgm:catLst>
    <dgm:cat type="relationship" pri="7000"/>
    <dgm:cat type="process" pri="32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ycle">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equ" val="2">
        <dgm:constrLst>
          <dgm:constr type="primFontSz" for="ch" ptType="node" op="equ" val="65"/>
          <dgm:constr type="w" for="ch" ptType="node" refType="w"/>
          <dgm:constr type="h" for="ch" ptType="node" refType="w" refFor="ch" refPtType="node"/>
          <dgm:constr type="sibSp" refType="w" refFor="ch" refPtType="node" fact="0.1"/>
          <dgm:constr type="diam" refType="w" refFor="ch" refPtType="node" fact="1.1"/>
        </dgm:constrLst>
      </dgm:if>
      <dgm:if name="Name11" axis="ch" ptType="node" func="cnt" op="equ" val="5">
        <dgm:constrLst>
          <dgm:constr type="primFontSz" for="ch" ptType="node" op="equ" val="65"/>
          <dgm:constr type="w" for="ch" ptType="node" refType="w"/>
          <dgm:constr type="h" for="ch" ptType="node" refType="w" refFor="ch" refPtType="node"/>
          <dgm:constr type="sibSp" refType="w" refFor="ch" refPtType="node" fact="-0.24"/>
        </dgm:constrLst>
      </dgm:if>
      <dgm:if name="Name12" axis="ch" ptType="node" func="cnt" op="equ" val="6">
        <dgm:constrLst>
          <dgm:constr type="primFontSz" for="ch" ptType="node" op="equ" val="65"/>
          <dgm:constr type="w" for="ch" ptType="node" refType="w"/>
          <dgm:constr type="h" for="ch" ptType="node" refType="w" refFor="ch" refPtType="node"/>
          <dgm:constr type="sibSp" refType="w" refFor="ch" refPtType="node" fact="-0.2"/>
        </dgm:constrLst>
      </dgm:if>
      <dgm:if name="Name13" axis="ch" ptType="node" func="cnt" op="equ" val="8">
        <dgm:constrLst>
          <dgm:constr type="primFontSz" for="ch" ptType="node" op="equ" val="65"/>
          <dgm:constr type="w" for="ch" ptType="node" refType="w"/>
          <dgm:constr type="h" for="ch" ptType="node" refType="w" refFor="ch" refPtType="node"/>
          <dgm:constr type="sibSp" refType="w" refFor="ch" refPtType="node" fact="-0.15"/>
        </dgm:constrLst>
      </dgm:if>
      <dgm:if name="Name14" axis="ch" ptType="node" func="cnt" op="equ" val="10">
        <dgm:constrLst>
          <dgm:constr type="primFontSz" for="ch" ptType="node" op="lte" val="65"/>
          <dgm:constr type="w" for="ch" ptType="node" refType="w"/>
          <dgm:constr type="h" for="ch" ptType="node" refType="w" refFor="ch" refPtType="node"/>
          <dgm:constr type="sibSp" refType="w" refFor="ch" refPtType="node" fact="-0.24"/>
        </dgm:constrLst>
      </dgm:if>
      <dgm:else name="Name15">
        <dgm:constrLst>
          <dgm:constr type="primFontSz" for="ch" ptType="node" op="equ" val="65"/>
          <dgm:constr type="w" for="ch" ptType="node" refType="w"/>
          <dgm:constr type="h" for="ch" ptType="node" refType="w" refFor="ch" refPtType="node"/>
          <dgm:constr type="sibSp" refType="w" refFor="ch" refPtType="node" fact="-0.35"/>
        </dgm:constrLst>
      </dgm:else>
    </dgm:choose>
    <dgm:ruleLst/>
    <dgm:forEach name="Name16" axis="ch" ptType="node">
      <dgm:layoutNode name="arrow">
        <dgm:varLst>
          <dgm:bulletEnabled val="1"/>
        </dgm:varLst>
        <dgm:alg type="tx"/>
        <dgm:shape xmlns:r="http://schemas.openxmlformats.org/officeDocument/2006/relationships" type="up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6/22/2025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6/22/2025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dirty="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215" cy="4480560"/>
          </a:xfrm>
        </p:spPr>
        <p:txBody>
          <a:bodyPr/>
          <a:lstStyle>
            <a:lvl1pPr marL="0" indent="0">
              <a:lnSpc>
                <a:spcPct val="75000"/>
              </a:lnSpc>
              <a:buNone/>
              <a:defRPr sz="8000">
                <a:solidFill>
                  <a:schemeClr val="bg1">
                    <a:lumMod val="95000"/>
                  </a:schemeClr>
                </a:solidFill>
              </a:defRPr>
            </a:lvl1pPr>
          </a:lstStyle>
          <a:p>
            <a:pPr lvl="0"/>
            <a:r>
              <a:rPr lang="en-US" dirty="0"/>
              <a:t>Click to edit Master text styles</a:t>
            </a:r>
          </a:p>
        </p:txBody>
      </p:sp>
    </p:spTree>
    <p:extLst>
      <p:ext uri="{BB962C8B-B14F-4D97-AF65-F5344CB8AC3E}">
        <p14:creationId xmlns:p14="http://schemas.microsoft.com/office/powerpoint/2010/main" val="335880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4" name="Content Placeholder 12">
            <a:extLst>
              <a:ext uri="{FF2B5EF4-FFF2-40B4-BE49-F238E27FC236}">
                <a16:creationId xmlns:a16="http://schemas.microsoft.com/office/drawing/2014/main" id="{19B7E7AC-A0E6-BE9A-4728-8FE036CF3538}"/>
              </a:ext>
            </a:extLst>
          </p:cNvPr>
          <p:cNvSpPr>
            <a:spLocks noGrp="1"/>
          </p:cNvSpPr>
          <p:nvPr>
            <p:ph sz="quarter" idx="13"/>
          </p:nvPr>
        </p:nvSpPr>
        <p:spPr>
          <a:xfrm>
            <a:off x="841248" y="1536827"/>
            <a:ext cx="6556375" cy="4479925"/>
          </a:xfrm>
        </p:spPr>
        <p:txBody>
          <a:bodyPr>
            <a:normAutofit/>
          </a:bodyPr>
          <a:lstStyle>
            <a:lvl1pPr>
              <a:lnSpc>
                <a:spcPct val="140000"/>
              </a:lnSpc>
              <a:spcAft>
                <a:spcPts val="0"/>
              </a:spcAft>
              <a:defRPr sz="2800"/>
            </a:lvl1pPr>
            <a:lvl2pPr>
              <a:defRPr sz="2800"/>
            </a:lvl2pPr>
            <a:lvl3pPr>
              <a:defRPr sz="2400"/>
            </a:lvl3pPr>
            <a:lvl4pPr>
              <a:defRPr sz="24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895640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with image 01">
    <p:bg>
      <p:bgPr>
        <a:solidFill>
          <a:schemeClr val="accent6">
            <a:lumMod val="50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F0337A6-0579-B5BC-C526-F7EBDDB8E84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4" name="Graphic 3">
            <a:extLst>
              <a:ext uri="{FF2B5EF4-FFF2-40B4-BE49-F238E27FC236}">
                <a16:creationId xmlns:a16="http://schemas.microsoft.com/office/drawing/2014/main" id="{4166F179-9203-AC2D-A267-E25FA28E978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4BFC5468-5E1B-2FE4-DA95-D0CCC383D3E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2" name="Graphic 11">
            <a:extLst>
              <a:ext uri="{FF2B5EF4-FFF2-40B4-BE49-F238E27FC236}">
                <a16:creationId xmlns:a16="http://schemas.microsoft.com/office/drawing/2014/main" id="{617493C4-12E7-500C-5FD5-68370B57A20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3" name="Graphic 12">
            <a:extLst>
              <a:ext uri="{FF2B5EF4-FFF2-40B4-BE49-F238E27FC236}">
                <a16:creationId xmlns:a16="http://schemas.microsoft.com/office/drawing/2014/main" id="{149B5038-6091-D5DF-F2DA-3900885F498D}"/>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4" name="Graphic 13">
            <a:extLst>
              <a:ext uri="{FF2B5EF4-FFF2-40B4-BE49-F238E27FC236}">
                <a16:creationId xmlns:a16="http://schemas.microsoft.com/office/drawing/2014/main" id="{9442ADAB-F6BA-A55C-036E-C837F95C8F8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111240" y="2231136"/>
            <a:ext cx="6080760" cy="4626864"/>
          </a:xfrm>
          <a:solidFill>
            <a:schemeClr val="accent6">
              <a:lumMod val="50000"/>
            </a:schemeClr>
          </a:solidFill>
        </p:spPr>
        <p:txBody>
          <a:bodyPr/>
          <a:lstStyle>
            <a:lvl1pPr marL="0" indent="0" algn="r">
              <a:buNone/>
              <a:defRPr>
                <a:solidFill>
                  <a:schemeClr val="bg1"/>
                </a:solidFill>
              </a:defRPr>
            </a:lvl1pPr>
          </a:lstStyle>
          <a:p>
            <a:endParaRPr lang="en-US" dirty="0"/>
          </a:p>
        </p:txBody>
      </p:sp>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6931152" cy="557784"/>
          </a:xfrm>
        </p:spPr>
        <p:txBody>
          <a:bodyPr anchor="t"/>
          <a:lstStyle>
            <a:lvl1pPr>
              <a:defRPr sz="2000" b="1" cap="all" spc="300" baseline="0">
                <a:solidFill>
                  <a:schemeClr val="bg1">
                    <a:lumMod val="95000"/>
                  </a:schemeClr>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6931152" cy="4480560"/>
          </a:xfrm>
        </p:spPr>
        <p:txBody>
          <a:bodyPr/>
          <a:lstStyle>
            <a:lvl1pPr marL="0" indent="0">
              <a:lnSpc>
                <a:spcPct val="75000"/>
              </a:lnSpc>
              <a:buNone/>
              <a:defRPr sz="8000">
                <a:solidFill>
                  <a:schemeClr val="bg1">
                    <a:lumMod val="95000"/>
                  </a:schemeClr>
                </a:solidFill>
              </a:defRPr>
            </a:lvl1pPr>
          </a:lstStyle>
          <a:p>
            <a:pPr lvl="0"/>
            <a:r>
              <a:rPr lang="en-US" dirty="0"/>
              <a:t>Click to edit Master text styles</a:t>
            </a:r>
          </a:p>
        </p:txBody>
      </p:sp>
    </p:spTree>
    <p:extLst>
      <p:ext uri="{BB962C8B-B14F-4D97-AF65-F5344CB8AC3E}">
        <p14:creationId xmlns:p14="http://schemas.microsoft.com/office/powerpoint/2010/main" val="789452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E18B122A-848F-E50E-C503-3930933A5C6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8908"/>
          <a:stretch/>
        </p:blipFill>
        <p:spPr>
          <a:xfrm>
            <a:off x="8401354" y="0"/>
            <a:ext cx="3790646" cy="6857999"/>
          </a:xfrm>
          <a:prstGeom prst="rect">
            <a:avLst/>
          </a:prstGeom>
        </p:spPr>
      </p:pic>
      <p:pic>
        <p:nvPicPr>
          <p:cNvPr id="12" name="Graphic 11">
            <a:extLst>
              <a:ext uri="{FF2B5EF4-FFF2-40B4-BE49-F238E27FC236}">
                <a16:creationId xmlns:a16="http://schemas.microsoft.com/office/drawing/2014/main" id="{08CD9875-E4AF-D7EA-9F8B-D27F2C3104A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2297076"/>
            <a:ext cx="2286000" cy="2286000"/>
          </a:xfrm>
          <a:prstGeom prst="rect">
            <a:avLst/>
          </a:prstGeom>
        </p:spPr>
      </p:pic>
      <p:pic>
        <p:nvPicPr>
          <p:cNvPr id="13" name="Graphic 12">
            <a:extLst>
              <a:ext uri="{FF2B5EF4-FFF2-40B4-BE49-F238E27FC236}">
                <a16:creationId xmlns:a16="http://schemas.microsoft.com/office/drawing/2014/main" id="{8513E8A3-5E78-5821-6B7B-AF6343ACA73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E256415C-5388-7D35-1C15-8DA4ACDCA1F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5" name="Graphic 14">
            <a:extLst>
              <a:ext uri="{FF2B5EF4-FFF2-40B4-BE49-F238E27FC236}">
                <a16:creationId xmlns:a16="http://schemas.microsoft.com/office/drawing/2014/main" id="{8B78E2E7-B83A-F17C-9869-FED59DD512E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6556375"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758616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02">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321C850-160D-5CD7-B829-ADE752EA7AB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a:stretch/>
        </p:blipFill>
        <p:spPr>
          <a:xfrm>
            <a:off x="6096000" y="0"/>
            <a:ext cx="6096000" cy="6857999"/>
          </a:xfrm>
          <a:prstGeom prst="rect">
            <a:avLst/>
          </a:prstGeom>
        </p:spPr>
      </p:pic>
      <p:pic>
        <p:nvPicPr>
          <p:cNvPr id="6" name="Graphic 5">
            <a:extLst>
              <a:ext uri="{FF2B5EF4-FFF2-40B4-BE49-F238E27FC236}">
                <a16:creationId xmlns:a16="http://schemas.microsoft.com/office/drawing/2014/main" id="{33105707-8D59-D00C-596A-380479D0E0D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2297076"/>
            <a:ext cx="2286000" cy="2286000"/>
          </a:xfrm>
          <a:prstGeom prst="rect">
            <a:avLst/>
          </a:prstGeom>
        </p:spPr>
      </p:pic>
      <p:pic>
        <p:nvPicPr>
          <p:cNvPr id="7" name="Graphic 6">
            <a:extLst>
              <a:ext uri="{FF2B5EF4-FFF2-40B4-BE49-F238E27FC236}">
                <a16:creationId xmlns:a16="http://schemas.microsoft.com/office/drawing/2014/main" id="{3DC4FC4F-BE00-1554-FEBD-DE21F3AB35B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0A310F08-0B34-7E1C-7605-4F81502355F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9" name="Graphic 8">
            <a:extLst>
              <a:ext uri="{FF2B5EF4-FFF2-40B4-BE49-F238E27FC236}">
                <a16:creationId xmlns:a16="http://schemas.microsoft.com/office/drawing/2014/main" id="{63371AFC-6FAC-3C10-CCC0-ECE8DB9E997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024" cy="2679192"/>
          </a:xfrm>
        </p:spPr>
        <p:txBody>
          <a:bodyPr/>
          <a:lstStyle>
            <a:lvl1pPr marL="0" indent="0">
              <a:lnSpc>
                <a:spcPct val="75000"/>
              </a:lnSpc>
              <a:buNone/>
              <a:defRPr sz="8000">
                <a:solidFill>
                  <a:schemeClr val="bg1">
                    <a:lumMod val="95000"/>
                  </a:schemeClr>
                </a:solidFill>
              </a:defRPr>
            </a:lvl1pPr>
          </a:lstStyle>
          <a:p>
            <a:pPr lvl="0"/>
            <a:r>
              <a:rPr lang="en-US" dirty="0"/>
              <a:t>Click to edit Master text styles</a:t>
            </a:r>
          </a:p>
        </p:txBody>
      </p:sp>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0" y="4462272"/>
            <a:ext cx="12188952" cy="2395728"/>
          </a:xfrm>
          <a:solidFill>
            <a:schemeClr val="accent6">
              <a:lumMod val="75000"/>
            </a:schemeClr>
          </a:solidFill>
        </p:spPr>
        <p:txBody>
          <a:bodyPr/>
          <a:lstStyle>
            <a:lvl1pPr marL="0" indent="0" algn="ctr">
              <a:buNone/>
              <a:defRPr>
                <a:solidFill>
                  <a:sysClr val="windowText" lastClr="000000"/>
                </a:solidFill>
              </a:defRPr>
            </a:lvl1pPr>
          </a:lstStyle>
          <a:p>
            <a:endParaRPr lang="en-US" dirty="0"/>
          </a:p>
        </p:txBody>
      </p:sp>
    </p:spTree>
    <p:extLst>
      <p:ext uri="{BB962C8B-B14F-4D97-AF65-F5344CB8AC3E}">
        <p14:creationId xmlns:p14="http://schemas.microsoft.com/office/powerpoint/2010/main" val="2039803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0F0E0D3-11E9-A85D-821D-49C27B06B06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6" name="Graphic 5">
            <a:extLst>
              <a:ext uri="{FF2B5EF4-FFF2-40B4-BE49-F238E27FC236}">
                <a16:creationId xmlns:a16="http://schemas.microsoft.com/office/drawing/2014/main" id="{7433D848-BBB0-8852-CBA7-96FB04BFADE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556"/>
          <a:stretch/>
        </p:blipFill>
        <p:spPr>
          <a:xfrm>
            <a:off x="10687351" y="4584700"/>
            <a:ext cx="1504649" cy="1130300"/>
          </a:xfrm>
          <a:prstGeom prst="rect">
            <a:avLst/>
          </a:prstGeom>
        </p:spPr>
      </p:pic>
      <p:pic>
        <p:nvPicPr>
          <p:cNvPr id="7" name="Graphic 6">
            <a:extLst>
              <a:ext uri="{FF2B5EF4-FFF2-40B4-BE49-F238E27FC236}">
                <a16:creationId xmlns:a16="http://schemas.microsoft.com/office/drawing/2014/main" id="{3A0A5B28-1267-FF8C-DD34-4AE0CE17FD9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72FE7896-D379-408C-54BB-757C71F0DEF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49515" r="34180"/>
          <a:stretch/>
        </p:blipFill>
        <p:spPr>
          <a:xfrm>
            <a:off x="10687351" y="1141376"/>
            <a:ext cx="1504649" cy="1154076"/>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37E02B10-F9DF-509C-64D5-91DEB6988175}"/>
              </a:ext>
            </a:extLst>
          </p:cNvPr>
          <p:cNvSpPr>
            <a:spLocks noGrp="1"/>
          </p:cNvSpPr>
          <p:nvPr>
            <p:ph type="body" sz="quarter" idx="15"/>
          </p:nvPr>
        </p:nvSpPr>
        <p:spPr>
          <a:xfrm>
            <a:off x="4791455" y="1536826"/>
            <a:ext cx="5650992" cy="557784"/>
          </a:xfrm>
        </p:spPr>
        <p:txBody>
          <a:bodyPr/>
          <a:lstStyle>
            <a:lvl1pPr marL="0" indent="0">
              <a:lnSpc>
                <a:spcPct val="90000"/>
              </a:lnSpc>
              <a:spcBef>
                <a:spcPts val="1000"/>
              </a:spcBef>
              <a:spcAft>
                <a:spcPts val="0"/>
              </a:spcAft>
              <a:buNone/>
              <a:defRPr sz="2000" b="1" baseline="0">
                <a:solidFill>
                  <a:schemeClr val="tx1"/>
                </a:solidFill>
                <a:latin typeface="+mj-lt"/>
              </a:defRPr>
            </a:lvl1pPr>
          </a:lstStyle>
          <a:p>
            <a:pPr lvl="0"/>
            <a:r>
              <a:rPr lang="en-US" dirty="0"/>
              <a:t>Click to edit Master text styles</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2267712"/>
            <a:ext cx="5650992" cy="3767328"/>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58375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CE1CF12-4201-C23B-7B9A-02EB4F8A79C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396"/>
          <a:stretch/>
        </p:blipFill>
        <p:spPr>
          <a:xfrm>
            <a:off x="0" y="5731980"/>
            <a:ext cx="12192000" cy="1138720"/>
          </a:xfrm>
          <a:prstGeom prst="rect">
            <a:avLst/>
          </a:prstGeom>
        </p:spPr>
      </p:pic>
      <p:pic>
        <p:nvPicPr>
          <p:cNvPr id="12" name="Graphic 11">
            <a:extLst>
              <a:ext uri="{FF2B5EF4-FFF2-40B4-BE49-F238E27FC236}">
                <a16:creationId xmlns:a16="http://schemas.microsoft.com/office/drawing/2014/main" id="{513CE0C7-867A-80BB-9E96-3008375B7EE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8854" b="83396"/>
          <a:stretch/>
        </p:blipFill>
        <p:spPr>
          <a:xfrm>
            <a:off x="0" y="12700"/>
            <a:ext cx="3797300" cy="1138720"/>
          </a:xfrm>
          <a:prstGeom prst="rect">
            <a:avLst/>
          </a:prstGeom>
        </p:spPr>
      </p:pic>
      <p:pic>
        <p:nvPicPr>
          <p:cNvPr id="13" name="Graphic 12">
            <a:extLst>
              <a:ext uri="{FF2B5EF4-FFF2-40B4-BE49-F238E27FC236}">
                <a16:creationId xmlns:a16="http://schemas.microsoft.com/office/drawing/2014/main" id="{736CB758-B1DB-F2E0-00E7-BF5660C5F25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33598" b="49858"/>
          <a:stretch/>
        </p:blipFill>
        <p:spPr>
          <a:xfrm>
            <a:off x="0" y="9452"/>
            <a:ext cx="1517954" cy="1146248"/>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4764024" y="841248"/>
            <a:ext cx="6556248" cy="557784"/>
          </a:xfrm>
        </p:spPr>
        <p:txBody>
          <a:bodyPr anchor="t"/>
          <a:lstStyle>
            <a:lvl1pPr>
              <a:defRPr sz="2000" cap="all" spc="300" baseline="0"/>
            </a:lvl1pPr>
          </a:lstStyle>
          <a:p>
            <a:r>
              <a:rPr lang="en-US" dirty="0"/>
              <a:t>Click to edit Master title style</a:t>
            </a:r>
          </a:p>
        </p:txBody>
      </p:sp>
      <p:sp>
        <p:nvSpPr>
          <p:cNvPr id="14" name="Picture Placeholder 15">
            <a:extLst>
              <a:ext uri="{FF2B5EF4-FFF2-40B4-BE49-F238E27FC236}">
                <a16:creationId xmlns:a16="http://schemas.microsoft.com/office/drawing/2014/main" id="{A780F1E2-F795-D408-7361-9B32EA12F8E7}"/>
              </a:ext>
            </a:extLst>
          </p:cNvPr>
          <p:cNvSpPr>
            <a:spLocks noGrp="1"/>
          </p:cNvSpPr>
          <p:nvPr>
            <p:ph type="pic" sz="quarter" idx="14"/>
          </p:nvPr>
        </p:nvSpPr>
        <p:spPr>
          <a:xfrm>
            <a:off x="0" y="836676"/>
            <a:ext cx="3785616" cy="5184648"/>
          </a:xfrm>
          <a:solidFill>
            <a:schemeClr val="accent6">
              <a:lumMod val="75000"/>
            </a:schemeClr>
          </a:solidFill>
        </p:spPr>
        <p:txBody>
          <a:bodyPr/>
          <a:lstStyle>
            <a:lvl1pPr marL="0" indent="0" algn="ctr">
              <a:buNone/>
              <a:defRPr>
                <a:solidFill>
                  <a:sysClr val="windowText" lastClr="000000"/>
                </a:solidFill>
              </a:defRPr>
            </a:lvl1pPr>
          </a:lstStyle>
          <a:p>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4764023" y="1536827"/>
            <a:ext cx="6556247"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408805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532740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342900" indent="-342900">
              <a:lnSpc>
                <a:spcPct val="90000"/>
              </a:lnSpc>
              <a:spcAft>
                <a:spcPts val="1800"/>
              </a:spcAft>
              <a:buSzPct val="100000"/>
              <a:buFont typeface="Arial" panose="020B0604020202020204" pitchFamily="34" charset="0"/>
              <a:buChar char="•"/>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27448" y="1536827"/>
            <a:ext cx="6592824"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pic>
        <p:nvPicPr>
          <p:cNvPr id="5" name="Graphic 4">
            <a:extLst>
              <a:ext uri="{FF2B5EF4-FFF2-40B4-BE49-F238E27FC236}">
                <a16:creationId xmlns:a16="http://schemas.microsoft.com/office/drawing/2014/main" id="{3FD831DA-EDBD-A492-3E6D-6ABBF4438FC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b="83148"/>
          <a:stretch/>
        </p:blipFill>
        <p:spPr>
          <a:xfrm>
            <a:off x="10687350" y="12700"/>
            <a:ext cx="1504649" cy="1155700"/>
          </a:xfrm>
          <a:prstGeom prst="rect">
            <a:avLst/>
          </a:prstGeom>
        </p:spPr>
      </p:pic>
      <p:pic>
        <p:nvPicPr>
          <p:cNvPr id="6" name="Graphic 5">
            <a:extLst>
              <a:ext uri="{FF2B5EF4-FFF2-40B4-BE49-F238E27FC236}">
                <a16:creationId xmlns:a16="http://schemas.microsoft.com/office/drawing/2014/main" id="{00071AEB-E268-A464-7197-69FA762C3C5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444"/>
          <a:stretch/>
        </p:blipFill>
        <p:spPr>
          <a:xfrm>
            <a:off x="10687351" y="9452"/>
            <a:ext cx="1504649" cy="1155700"/>
          </a:xfrm>
          <a:prstGeom prst="rect">
            <a:avLst/>
          </a:prstGeom>
        </p:spPr>
      </p:pic>
    </p:spTree>
    <p:extLst>
      <p:ext uri="{BB962C8B-B14F-4D97-AF65-F5344CB8AC3E}">
        <p14:creationId xmlns:p14="http://schemas.microsoft.com/office/powerpoint/2010/main" val="2969287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C5788EE-4EDA-20FA-8EB9-2F0639E8A2B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8" name="Graphic 7">
            <a:extLst>
              <a:ext uri="{FF2B5EF4-FFF2-40B4-BE49-F238E27FC236}">
                <a16:creationId xmlns:a16="http://schemas.microsoft.com/office/drawing/2014/main" id="{9D053CA0-7A9F-FC49-AD3F-F3280344D76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767F6939-7B7E-F49F-8219-DC8CDAC85D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1" name="Graphic 10">
            <a:extLst>
              <a:ext uri="{FF2B5EF4-FFF2-40B4-BE49-F238E27FC236}">
                <a16:creationId xmlns:a16="http://schemas.microsoft.com/office/drawing/2014/main" id="{FACCA700-291A-CD50-0CF3-749300C8D7A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2" name="Graphic 11">
            <a:extLst>
              <a:ext uri="{FF2B5EF4-FFF2-40B4-BE49-F238E27FC236}">
                <a16:creationId xmlns:a16="http://schemas.microsoft.com/office/drawing/2014/main" id="{0EFADD4D-8EF2-3DF8-F5F4-9459752D546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3" name="Graphic 12">
            <a:extLst>
              <a:ext uri="{FF2B5EF4-FFF2-40B4-BE49-F238E27FC236}">
                <a16:creationId xmlns:a16="http://schemas.microsoft.com/office/drawing/2014/main" id="{B5B36F67-81DA-36AC-5D17-0172FF5A70C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841248" y="1527048"/>
            <a:ext cx="10479024" cy="4498848"/>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163463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with image 03">
    <p:bg>
      <p:bgPr>
        <a:solidFill>
          <a:schemeClr val="accent6">
            <a:lumMod val="50000"/>
          </a:schemeClr>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092952" y="0"/>
            <a:ext cx="6099048" cy="6876288"/>
          </a:xfrm>
          <a:solidFill>
            <a:schemeClr val="accent6">
              <a:lumMod val="75000"/>
            </a:schemeClr>
          </a:solidFill>
        </p:spPr>
        <p:txBody>
          <a:bodyPr/>
          <a:lstStyle>
            <a:lvl1pPr marL="0" indent="0" algn="l">
              <a:buNone/>
              <a:defRPr>
                <a:solidFill>
                  <a:schemeClr val="bg1"/>
                </a:solidFill>
              </a:defRPr>
            </a:lvl1pPr>
          </a:lstStyle>
          <a:p>
            <a:endParaRPr lang="en-US" dirty="0"/>
          </a:p>
        </p:txBody>
      </p:sp>
      <p:sp>
        <p:nvSpPr>
          <p:cNvPr id="124" name="Title 123">
            <a:extLst>
              <a:ext uri="{FF2B5EF4-FFF2-40B4-BE49-F238E27FC236}">
                <a16:creationId xmlns:a16="http://schemas.microsoft.com/office/drawing/2014/main" id="{5EF8E4BF-2FB4-FFDD-E565-805C476240FE}"/>
              </a:ext>
            </a:extLst>
          </p:cNvPr>
          <p:cNvSpPr>
            <a:spLocks noGrp="1"/>
          </p:cNvSpPr>
          <p:nvPr>
            <p:ph type="title"/>
          </p:nvPr>
        </p:nvSpPr>
        <p:spPr>
          <a:xfrm>
            <a:off x="841244" y="832104"/>
            <a:ext cx="6099048" cy="5219236"/>
          </a:xfrm>
        </p:spPr>
        <p:txBody>
          <a:bodyPr anchor="t"/>
          <a:lstStyle>
            <a:lvl1pPr>
              <a:lnSpc>
                <a:spcPct val="75000"/>
              </a:lnSpc>
              <a:defRPr sz="8000" b="0" spc="0" baseline="0">
                <a:solidFill>
                  <a:schemeClr val="bg1"/>
                </a:solidFill>
                <a:latin typeface="+mn-lt"/>
              </a:defRPr>
            </a:lvl1pPr>
          </a:lstStyle>
          <a:p>
            <a:r>
              <a:rPr lang="en-US" dirty="0"/>
              <a:t>Click to edit Master title style</a:t>
            </a:r>
          </a:p>
        </p:txBody>
      </p:sp>
      <p:sp>
        <p:nvSpPr>
          <p:cNvPr id="123" name="Text Placeholder 122">
            <a:extLst>
              <a:ext uri="{FF2B5EF4-FFF2-40B4-BE49-F238E27FC236}">
                <a16:creationId xmlns:a16="http://schemas.microsoft.com/office/drawing/2014/main" id="{25C59923-6546-AB3B-534C-22113CD9D671}"/>
              </a:ext>
            </a:extLst>
          </p:cNvPr>
          <p:cNvSpPr>
            <a:spLocks noGrp="1"/>
          </p:cNvSpPr>
          <p:nvPr>
            <p:ph type="body" sz="quarter" idx="15"/>
          </p:nvPr>
        </p:nvSpPr>
        <p:spPr>
          <a:xfrm>
            <a:off x="8401353" y="-1"/>
            <a:ext cx="3790650" cy="1155691"/>
          </a:xfrm>
          <a:custGeom>
            <a:avLst/>
            <a:gdLst>
              <a:gd name="connsiteX0" fmla="*/ 2293575 w 3790650"/>
              <a:gd name="connsiteY0" fmla="*/ 0 h 1155691"/>
              <a:gd name="connsiteX1" fmla="*/ 3790650 w 3790650"/>
              <a:gd name="connsiteY1" fmla="*/ 0 h 1155691"/>
              <a:gd name="connsiteX2" fmla="*/ 3790650 w 3790650"/>
              <a:gd name="connsiteY2" fmla="*/ 1098632 h 1155691"/>
              <a:gd name="connsiteX3" fmla="*/ 3775153 w 3790650"/>
              <a:gd name="connsiteY3" fmla="*/ 1104304 h 1155691"/>
              <a:gd name="connsiteX4" fmla="*/ 3435268 w 3790650"/>
              <a:gd name="connsiteY4" fmla="*/ 1155691 h 1155691"/>
              <a:gd name="connsiteX5" fmla="*/ 2292295 w 3790650"/>
              <a:gd name="connsiteY5" fmla="*/ 12701 h 1155691"/>
              <a:gd name="connsiteX6" fmla="*/ 1280 w 3790650"/>
              <a:gd name="connsiteY6" fmla="*/ 0 h 1155691"/>
              <a:gd name="connsiteX7" fmla="*/ 2284665 w 3790650"/>
              <a:gd name="connsiteY7" fmla="*/ 0 h 1155691"/>
              <a:gd name="connsiteX8" fmla="*/ 2285945 w 3790650"/>
              <a:gd name="connsiteY8" fmla="*/ 12701 h 1155691"/>
              <a:gd name="connsiteX9" fmla="*/ 1142973 w 3790650"/>
              <a:gd name="connsiteY9" fmla="*/ 1155691 h 1155691"/>
              <a:gd name="connsiteX10" fmla="*/ 0 w 3790650"/>
              <a:gd name="connsiteY10" fmla="*/ 12701 h 115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0650" h="1155691">
                <a:moveTo>
                  <a:pt x="2293575" y="0"/>
                </a:moveTo>
                <a:lnTo>
                  <a:pt x="3790650" y="0"/>
                </a:lnTo>
                <a:lnTo>
                  <a:pt x="3790650" y="1098632"/>
                </a:lnTo>
                <a:lnTo>
                  <a:pt x="3775153" y="1104304"/>
                </a:lnTo>
                <a:cubicBezTo>
                  <a:pt x="3667783" y="1137700"/>
                  <a:pt x="3553627" y="1155691"/>
                  <a:pt x="3435268" y="1155691"/>
                </a:cubicBezTo>
                <a:cubicBezTo>
                  <a:pt x="2804021" y="1155691"/>
                  <a:pt x="2292295" y="643957"/>
                  <a:pt x="2292295" y="12701"/>
                </a:cubicBezTo>
                <a:close/>
                <a:moveTo>
                  <a:pt x="1280" y="0"/>
                </a:moveTo>
                <a:lnTo>
                  <a:pt x="2284665" y="0"/>
                </a:lnTo>
                <a:lnTo>
                  <a:pt x="2285945" y="12701"/>
                </a:lnTo>
                <a:cubicBezTo>
                  <a:pt x="2285945" y="643957"/>
                  <a:pt x="1774219" y="1155691"/>
                  <a:pt x="1142973" y="1155691"/>
                </a:cubicBezTo>
                <a:cubicBezTo>
                  <a:pt x="511726" y="1155691"/>
                  <a:pt x="0" y="643957"/>
                  <a:pt x="0" y="12701"/>
                </a:cubicBezTo>
                <a:close/>
              </a:path>
            </a:pathLst>
          </a:custGeom>
          <a:solidFill>
            <a:schemeClr val="accent6">
              <a:lumMod val="75000"/>
              <a:alpha val="25000"/>
            </a:schemeClr>
          </a:solidFill>
        </p:spPr>
        <p:txBody>
          <a:bodyPr wrap="square">
            <a:noAutofit/>
          </a:bodyPr>
          <a:lstStyle>
            <a:lvl1pPr>
              <a:defRPr>
                <a:noFill/>
              </a:defRPr>
            </a:lvl1pPr>
          </a:lstStyle>
          <a:p>
            <a:pPr lvl="0"/>
            <a:endParaRPr lang="en-US" dirty="0"/>
          </a:p>
        </p:txBody>
      </p:sp>
      <p:sp>
        <p:nvSpPr>
          <p:cNvPr id="48" name="Text Placeholder 47">
            <a:extLst>
              <a:ext uri="{FF2B5EF4-FFF2-40B4-BE49-F238E27FC236}">
                <a16:creationId xmlns:a16="http://schemas.microsoft.com/office/drawing/2014/main" id="{880C9A0C-95B8-C535-9B78-63FDB782BE10}"/>
              </a:ext>
            </a:extLst>
          </p:cNvPr>
          <p:cNvSpPr>
            <a:spLocks noGrp="1"/>
          </p:cNvSpPr>
          <p:nvPr>
            <p:ph type="body" sz="quarter" idx="12"/>
          </p:nvPr>
        </p:nvSpPr>
        <p:spPr>
          <a:xfrm>
            <a:off x="-3" y="5727700"/>
            <a:ext cx="12192003" cy="1130300"/>
          </a:xfrm>
          <a:custGeom>
            <a:avLst/>
            <a:gdLst>
              <a:gd name="connsiteX0" fmla="*/ 11823828 w 12192003"/>
              <a:gd name="connsiteY0" fmla="*/ 0 h 1130300"/>
              <a:gd name="connsiteX1" fmla="*/ 12163721 w 12192003"/>
              <a:gd name="connsiteY1" fmla="*/ 51387 h 1130300"/>
              <a:gd name="connsiteX2" fmla="*/ 12192003 w 12192003"/>
              <a:gd name="connsiteY2" fmla="*/ 61738 h 1130300"/>
              <a:gd name="connsiteX3" fmla="*/ 12192003 w 12192003"/>
              <a:gd name="connsiteY3" fmla="*/ 1130300 h 1130300"/>
              <a:gd name="connsiteX4" fmla="*/ 10681469 w 12192003"/>
              <a:gd name="connsiteY4" fmla="*/ 1130300 h 1130300"/>
              <a:gd name="connsiteX5" fmla="*/ 10686729 w 12192003"/>
              <a:gd name="connsiteY5" fmla="*/ 1026126 h 1130300"/>
              <a:gd name="connsiteX6" fmla="*/ 11823828 w 12192003"/>
              <a:gd name="connsiteY6" fmla="*/ 0 h 1130300"/>
              <a:gd name="connsiteX7" fmla="*/ 9531478 w 12192003"/>
              <a:gd name="connsiteY7" fmla="*/ 0 h 1130300"/>
              <a:gd name="connsiteX8" fmla="*/ 10668577 w 12192003"/>
              <a:gd name="connsiteY8" fmla="*/ 1026126 h 1130300"/>
              <a:gd name="connsiteX9" fmla="*/ 10673837 w 12192003"/>
              <a:gd name="connsiteY9" fmla="*/ 1130300 h 1130300"/>
              <a:gd name="connsiteX10" fmla="*/ 8389119 w 12192003"/>
              <a:gd name="connsiteY10" fmla="*/ 1130300 h 1130300"/>
              <a:gd name="connsiteX11" fmla="*/ 8394379 w 12192003"/>
              <a:gd name="connsiteY11" fmla="*/ 1026126 h 1130300"/>
              <a:gd name="connsiteX12" fmla="*/ 9531478 w 12192003"/>
              <a:gd name="connsiteY12" fmla="*/ 0 h 1130300"/>
              <a:gd name="connsiteX13" fmla="*/ 7239129 w 12192003"/>
              <a:gd name="connsiteY13" fmla="*/ 0 h 1130300"/>
              <a:gd name="connsiteX14" fmla="*/ 8376227 w 12192003"/>
              <a:gd name="connsiteY14" fmla="*/ 1026126 h 1130300"/>
              <a:gd name="connsiteX15" fmla="*/ 8381487 w 12192003"/>
              <a:gd name="connsiteY15" fmla="*/ 1130300 h 1130300"/>
              <a:gd name="connsiteX16" fmla="*/ 6096769 w 12192003"/>
              <a:gd name="connsiteY16" fmla="*/ 1130300 h 1130300"/>
              <a:gd name="connsiteX17" fmla="*/ 6102029 w 12192003"/>
              <a:gd name="connsiteY17" fmla="*/ 1026126 h 1130300"/>
              <a:gd name="connsiteX18" fmla="*/ 7239129 w 12192003"/>
              <a:gd name="connsiteY18" fmla="*/ 0 h 1130300"/>
              <a:gd name="connsiteX19" fmla="*/ 4946780 w 12192003"/>
              <a:gd name="connsiteY19" fmla="*/ 0 h 1130300"/>
              <a:gd name="connsiteX20" fmla="*/ 6083878 w 12192003"/>
              <a:gd name="connsiteY20" fmla="*/ 1026126 h 1130300"/>
              <a:gd name="connsiteX21" fmla="*/ 6089139 w 12192003"/>
              <a:gd name="connsiteY21" fmla="*/ 1130300 h 1130300"/>
              <a:gd name="connsiteX22" fmla="*/ 3804423 w 12192003"/>
              <a:gd name="connsiteY22" fmla="*/ 1130300 h 1130300"/>
              <a:gd name="connsiteX23" fmla="*/ 3809684 w 12192003"/>
              <a:gd name="connsiteY23" fmla="*/ 1026126 h 1130300"/>
              <a:gd name="connsiteX24" fmla="*/ 4946780 w 12192003"/>
              <a:gd name="connsiteY24" fmla="*/ 0 h 1130300"/>
              <a:gd name="connsiteX25" fmla="*/ 2654431 w 12192003"/>
              <a:gd name="connsiteY25" fmla="*/ 0 h 1130300"/>
              <a:gd name="connsiteX26" fmla="*/ 3791530 w 12192003"/>
              <a:gd name="connsiteY26" fmla="*/ 1026126 h 1130300"/>
              <a:gd name="connsiteX27" fmla="*/ 3796791 w 12192003"/>
              <a:gd name="connsiteY27" fmla="*/ 1130300 h 1130300"/>
              <a:gd name="connsiteX28" fmla="*/ 1512072 w 12192003"/>
              <a:gd name="connsiteY28" fmla="*/ 1130300 h 1130300"/>
              <a:gd name="connsiteX29" fmla="*/ 1517332 w 12192003"/>
              <a:gd name="connsiteY29" fmla="*/ 1026126 h 1130300"/>
              <a:gd name="connsiteX30" fmla="*/ 2654431 w 12192003"/>
              <a:gd name="connsiteY30" fmla="*/ 0 h 1130300"/>
              <a:gd name="connsiteX31" fmla="*/ 362080 w 12192003"/>
              <a:gd name="connsiteY31" fmla="*/ 0 h 1130300"/>
              <a:gd name="connsiteX32" fmla="*/ 1499179 w 12192003"/>
              <a:gd name="connsiteY32" fmla="*/ 1026126 h 1130300"/>
              <a:gd name="connsiteX33" fmla="*/ 1504439 w 12192003"/>
              <a:gd name="connsiteY33" fmla="*/ 1130300 h 1130300"/>
              <a:gd name="connsiteX34" fmla="*/ 0 w 12192003"/>
              <a:gd name="connsiteY34" fmla="*/ 1130300 h 1130300"/>
              <a:gd name="connsiteX35" fmla="*/ 0 w 12192003"/>
              <a:gd name="connsiteY35" fmla="*/ 59507 h 1130300"/>
              <a:gd name="connsiteX36" fmla="*/ 22187 w 12192003"/>
              <a:gd name="connsiteY36" fmla="*/ 51387 h 1130300"/>
              <a:gd name="connsiteX37" fmla="*/ 362080 w 12192003"/>
              <a:gd name="connsiteY37" fmla="*/ 0 h 113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3" h="1130300">
                <a:moveTo>
                  <a:pt x="11823828" y="0"/>
                </a:moveTo>
                <a:cubicBezTo>
                  <a:pt x="11942189" y="0"/>
                  <a:pt x="12056349" y="17991"/>
                  <a:pt x="12163721" y="51387"/>
                </a:cubicBezTo>
                <a:lnTo>
                  <a:pt x="12192003" y="61738"/>
                </a:lnTo>
                <a:lnTo>
                  <a:pt x="12192003" y="1130300"/>
                </a:lnTo>
                <a:lnTo>
                  <a:pt x="10681469" y="1130300"/>
                </a:lnTo>
                <a:lnTo>
                  <a:pt x="10686729" y="1026126"/>
                </a:lnTo>
                <a:cubicBezTo>
                  <a:pt x="10745262" y="449767"/>
                  <a:pt x="11232021" y="0"/>
                  <a:pt x="11823828" y="0"/>
                </a:cubicBezTo>
                <a:close/>
                <a:moveTo>
                  <a:pt x="9531478" y="0"/>
                </a:moveTo>
                <a:cubicBezTo>
                  <a:pt x="10123285" y="0"/>
                  <a:pt x="10610044" y="449767"/>
                  <a:pt x="10668577" y="1026126"/>
                </a:cubicBezTo>
                <a:lnTo>
                  <a:pt x="10673837" y="1130300"/>
                </a:lnTo>
                <a:lnTo>
                  <a:pt x="8389119" y="1130300"/>
                </a:lnTo>
                <a:lnTo>
                  <a:pt x="8394379" y="1026126"/>
                </a:lnTo>
                <a:cubicBezTo>
                  <a:pt x="8452912" y="449767"/>
                  <a:pt x="8939671" y="0"/>
                  <a:pt x="9531478" y="0"/>
                </a:cubicBezTo>
                <a:close/>
                <a:moveTo>
                  <a:pt x="7239129" y="0"/>
                </a:moveTo>
                <a:cubicBezTo>
                  <a:pt x="7830936" y="0"/>
                  <a:pt x="8317694" y="449767"/>
                  <a:pt x="8376227" y="1026126"/>
                </a:cubicBezTo>
                <a:lnTo>
                  <a:pt x="8381487" y="1130300"/>
                </a:lnTo>
                <a:lnTo>
                  <a:pt x="6096769" y="1130300"/>
                </a:lnTo>
                <a:lnTo>
                  <a:pt x="6102029" y="1026126"/>
                </a:lnTo>
                <a:cubicBezTo>
                  <a:pt x="6160563" y="449767"/>
                  <a:pt x="6647322" y="0"/>
                  <a:pt x="7239129" y="0"/>
                </a:cubicBezTo>
                <a:close/>
                <a:moveTo>
                  <a:pt x="4946780" y="0"/>
                </a:moveTo>
                <a:cubicBezTo>
                  <a:pt x="5538587" y="0"/>
                  <a:pt x="6025345" y="449767"/>
                  <a:pt x="6083878" y="1026126"/>
                </a:cubicBezTo>
                <a:lnTo>
                  <a:pt x="6089139" y="1130300"/>
                </a:lnTo>
                <a:lnTo>
                  <a:pt x="3804423" y="1130300"/>
                </a:lnTo>
                <a:lnTo>
                  <a:pt x="3809684" y="1026126"/>
                </a:lnTo>
                <a:cubicBezTo>
                  <a:pt x="3868216" y="449767"/>
                  <a:pt x="4354972" y="0"/>
                  <a:pt x="4946780" y="0"/>
                </a:cubicBezTo>
                <a:close/>
                <a:moveTo>
                  <a:pt x="2654431" y="0"/>
                </a:moveTo>
                <a:cubicBezTo>
                  <a:pt x="3246238" y="0"/>
                  <a:pt x="3732997" y="449767"/>
                  <a:pt x="3791530" y="1026126"/>
                </a:cubicBezTo>
                <a:lnTo>
                  <a:pt x="3796791" y="1130300"/>
                </a:lnTo>
                <a:lnTo>
                  <a:pt x="1512072" y="1130300"/>
                </a:lnTo>
                <a:lnTo>
                  <a:pt x="1517332" y="1026126"/>
                </a:lnTo>
                <a:cubicBezTo>
                  <a:pt x="1575865" y="449767"/>
                  <a:pt x="2062624" y="0"/>
                  <a:pt x="2654431" y="0"/>
                </a:cubicBezTo>
                <a:close/>
                <a:moveTo>
                  <a:pt x="362080" y="0"/>
                </a:moveTo>
                <a:cubicBezTo>
                  <a:pt x="953887" y="0"/>
                  <a:pt x="1440646" y="449767"/>
                  <a:pt x="1499179" y="1026126"/>
                </a:cubicBezTo>
                <a:lnTo>
                  <a:pt x="1504439" y="1130300"/>
                </a:lnTo>
                <a:lnTo>
                  <a:pt x="0" y="1130300"/>
                </a:lnTo>
                <a:lnTo>
                  <a:pt x="0" y="59507"/>
                </a:lnTo>
                <a:lnTo>
                  <a:pt x="22187" y="51387"/>
                </a:lnTo>
                <a:cubicBezTo>
                  <a:pt x="129559" y="17991"/>
                  <a:pt x="243719" y="0"/>
                  <a:pt x="362080" y="0"/>
                </a:cubicBezTo>
                <a:close/>
              </a:path>
            </a:pathLst>
          </a:custGeom>
          <a:solidFill>
            <a:schemeClr val="accent6">
              <a:lumMod val="75000"/>
              <a:alpha val="25000"/>
            </a:schemeClr>
          </a:solidFill>
        </p:spPr>
        <p:txBody>
          <a:bodyPr wrap="square">
            <a:noAutofit/>
          </a:bodyPr>
          <a:lstStyle>
            <a:lvl1pPr>
              <a:defRPr>
                <a:noFill/>
              </a:defRPr>
            </a:lvl1pPr>
          </a:lstStyle>
          <a:p>
            <a:pPr lvl="0"/>
            <a:endParaRPr lang="en-US" dirty="0"/>
          </a:p>
        </p:txBody>
      </p:sp>
      <p:sp>
        <p:nvSpPr>
          <p:cNvPr id="62" name="Text Placeholder 61">
            <a:extLst>
              <a:ext uri="{FF2B5EF4-FFF2-40B4-BE49-F238E27FC236}">
                <a16:creationId xmlns:a16="http://schemas.microsoft.com/office/drawing/2014/main" id="{70972619-C968-1257-58C9-0DC661642915}"/>
              </a:ext>
            </a:extLst>
          </p:cNvPr>
          <p:cNvSpPr>
            <a:spLocks noGrp="1"/>
          </p:cNvSpPr>
          <p:nvPr>
            <p:ph type="body" sz="quarter" idx="13"/>
          </p:nvPr>
        </p:nvSpPr>
        <p:spPr>
          <a:xfrm>
            <a:off x="0" y="5724189"/>
            <a:ext cx="1503729" cy="1133811"/>
          </a:xfrm>
          <a:custGeom>
            <a:avLst/>
            <a:gdLst>
              <a:gd name="connsiteX0" fmla="*/ 367995 w 1503729"/>
              <a:gd name="connsiteY0" fmla="*/ 19 h 1133811"/>
              <a:gd name="connsiteX1" fmla="*/ 1481576 w 1503729"/>
              <a:gd name="connsiteY1" fmla="*/ 913359 h 1133811"/>
              <a:gd name="connsiteX2" fmla="*/ 1503729 w 1503729"/>
              <a:gd name="connsiteY2" fmla="*/ 1133811 h 1133811"/>
              <a:gd name="connsiteX3" fmla="*/ 1371482 w 1503729"/>
              <a:gd name="connsiteY3" fmla="*/ 1133811 h 1133811"/>
              <a:gd name="connsiteX4" fmla="*/ 1275407 w 1503729"/>
              <a:gd name="connsiteY4" fmla="*/ 1118667 h 1133811"/>
              <a:gd name="connsiteX5" fmla="*/ 367995 w 1503729"/>
              <a:gd name="connsiteY5" fmla="*/ 19 h 1133811"/>
              <a:gd name="connsiteX6" fmla="*/ 367996 w 1503729"/>
              <a:gd name="connsiteY6" fmla="*/ 0 h 1133811"/>
              <a:gd name="connsiteX7" fmla="*/ 33218 w 1503729"/>
              <a:gd name="connsiteY7" fmla="*/ 808204 h 1133811"/>
              <a:gd name="connsiteX8" fmla="*/ 0 w 1503729"/>
              <a:gd name="connsiteY8" fmla="*/ 838393 h 1133811"/>
              <a:gd name="connsiteX9" fmla="*/ 0 w 1503729"/>
              <a:gd name="connsiteY9" fmla="*/ 61671 h 1133811"/>
              <a:gd name="connsiteX10" fmla="*/ 28102 w 1503729"/>
              <a:gd name="connsiteY10" fmla="*/ 51386 h 1133811"/>
              <a:gd name="connsiteX11" fmla="*/ 367996 w 1503729"/>
              <a:gd name="connsiteY11" fmla="*/ 0 h 113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3729" h="1133811">
                <a:moveTo>
                  <a:pt x="367995" y="19"/>
                </a:moveTo>
                <a:cubicBezTo>
                  <a:pt x="917788" y="3008"/>
                  <a:pt x="1375686" y="394157"/>
                  <a:pt x="1481576" y="913359"/>
                </a:cubicBezTo>
                <a:lnTo>
                  <a:pt x="1503729" y="1133811"/>
                </a:lnTo>
                <a:lnTo>
                  <a:pt x="1371482" y="1133811"/>
                </a:lnTo>
                <a:lnTo>
                  <a:pt x="1275407" y="1118667"/>
                </a:lnTo>
                <a:cubicBezTo>
                  <a:pt x="757177" y="1010082"/>
                  <a:pt x="368000" y="550498"/>
                  <a:pt x="367995" y="19"/>
                </a:cubicBezTo>
                <a:close/>
                <a:moveTo>
                  <a:pt x="367996" y="0"/>
                </a:moveTo>
                <a:cubicBezTo>
                  <a:pt x="367996" y="315623"/>
                  <a:pt x="240061" y="601366"/>
                  <a:pt x="33218" y="808204"/>
                </a:cubicBezTo>
                <a:lnTo>
                  <a:pt x="0" y="838393"/>
                </a:lnTo>
                <a:lnTo>
                  <a:pt x="0" y="61671"/>
                </a:lnTo>
                <a:lnTo>
                  <a:pt x="28102" y="51386"/>
                </a:lnTo>
                <a:cubicBezTo>
                  <a:pt x="135475" y="17991"/>
                  <a:pt x="249634" y="0"/>
                  <a:pt x="367996"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endParaRPr lang="en-US" dirty="0"/>
          </a:p>
        </p:txBody>
      </p:sp>
      <p:sp>
        <p:nvSpPr>
          <p:cNvPr id="93" name="Text Placeholder 92">
            <a:extLst>
              <a:ext uri="{FF2B5EF4-FFF2-40B4-BE49-F238E27FC236}">
                <a16:creationId xmlns:a16="http://schemas.microsoft.com/office/drawing/2014/main" id="{0A4A3873-48BC-94DF-6006-FC7F81660A5D}"/>
              </a:ext>
            </a:extLst>
          </p:cNvPr>
          <p:cNvSpPr>
            <a:spLocks noGrp="1"/>
          </p:cNvSpPr>
          <p:nvPr>
            <p:ph type="body" sz="quarter" idx="14"/>
          </p:nvPr>
        </p:nvSpPr>
        <p:spPr>
          <a:xfrm>
            <a:off x="8401353" y="0"/>
            <a:ext cx="3790647" cy="1143002"/>
          </a:xfrm>
          <a:custGeom>
            <a:avLst/>
            <a:gdLst>
              <a:gd name="connsiteX0" fmla="*/ 3790647 w 3790647"/>
              <a:gd name="connsiteY0" fmla="*/ 304585 h 1143002"/>
              <a:gd name="connsiteX1" fmla="*/ 3790647 w 3790647"/>
              <a:gd name="connsiteY1" fmla="*/ 1081329 h 1143002"/>
              <a:gd name="connsiteX2" fmla="*/ 3762543 w 3790647"/>
              <a:gd name="connsiteY2" fmla="*/ 1091615 h 1143002"/>
              <a:gd name="connsiteX3" fmla="*/ 3422649 w 3790647"/>
              <a:gd name="connsiteY3" fmla="*/ 1143002 h 1143002"/>
              <a:gd name="connsiteX4" fmla="*/ 3757427 w 3790647"/>
              <a:gd name="connsiteY4" fmla="*/ 334777 h 1143002"/>
              <a:gd name="connsiteX5" fmla="*/ 2285997 w 3790647"/>
              <a:gd name="connsiteY5" fmla="*/ 17 h 1143002"/>
              <a:gd name="connsiteX6" fmla="*/ 3422650 w 3790647"/>
              <a:gd name="connsiteY6" fmla="*/ 1142983 h 1143002"/>
              <a:gd name="connsiteX7" fmla="*/ 2285997 w 3790647"/>
              <a:gd name="connsiteY7" fmla="*/ 17 h 1143002"/>
              <a:gd name="connsiteX8" fmla="*/ 0 w 3790647"/>
              <a:gd name="connsiteY8" fmla="*/ 17 h 1143002"/>
              <a:gd name="connsiteX9" fmla="*/ 1136650 w 3790647"/>
              <a:gd name="connsiteY9" fmla="*/ 1142983 h 1143002"/>
              <a:gd name="connsiteX10" fmla="*/ 0 w 3790647"/>
              <a:gd name="connsiteY10" fmla="*/ 17 h 1143002"/>
              <a:gd name="connsiteX11" fmla="*/ 2279650 w 3790647"/>
              <a:gd name="connsiteY11" fmla="*/ 0 h 1143002"/>
              <a:gd name="connsiteX12" fmla="*/ 1136650 w 3790647"/>
              <a:gd name="connsiteY12" fmla="*/ 1143002 h 1143002"/>
              <a:gd name="connsiteX13" fmla="*/ 2279650 w 3790647"/>
              <a:gd name="connsiteY13" fmla="*/ 0 h 114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0647" h="1143002">
                <a:moveTo>
                  <a:pt x="3790647" y="304585"/>
                </a:moveTo>
                <a:lnTo>
                  <a:pt x="3790647" y="1081329"/>
                </a:lnTo>
                <a:lnTo>
                  <a:pt x="3762543" y="1091615"/>
                </a:lnTo>
                <a:cubicBezTo>
                  <a:pt x="3655170" y="1125011"/>
                  <a:pt x="3541011" y="1143002"/>
                  <a:pt x="3422649" y="1143002"/>
                </a:cubicBezTo>
                <a:cubicBezTo>
                  <a:pt x="3422649" y="827371"/>
                  <a:pt x="3550584" y="541620"/>
                  <a:pt x="3757427" y="334777"/>
                </a:cubicBezTo>
                <a:close/>
                <a:moveTo>
                  <a:pt x="2285997" y="17"/>
                </a:moveTo>
                <a:cubicBezTo>
                  <a:pt x="2914332" y="3435"/>
                  <a:pt x="3422644" y="513848"/>
                  <a:pt x="3422650" y="1142983"/>
                </a:cubicBezTo>
                <a:cubicBezTo>
                  <a:pt x="2794315" y="1139567"/>
                  <a:pt x="2286006" y="629153"/>
                  <a:pt x="2285997" y="17"/>
                </a:cubicBezTo>
                <a:close/>
                <a:moveTo>
                  <a:pt x="0" y="17"/>
                </a:moveTo>
                <a:cubicBezTo>
                  <a:pt x="628334" y="3435"/>
                  <a:pt x="1136644" y="513848"/>
                  <a:pt x="1136650" y="1142983"/>
                </a:cubicBezTo>
                <a:cubicBezTo>
                  <a:pt x="508316" y="1139567"/>
                  <a:pt x="9" y="629153"/>
                  <a:pt x="0" y="17"/>
                </a:cubicBezTo>
                <a:close/>
                <a:moveTo>
                  <a:pt x="2279650" y="0"/>
                </a:moveTo>
                <a:cubicBezTo>
                  <a:pt x="2279650" y="631263"/>
                  <a:pt x="1767910" y="1143002"/>
                  <a:pt x="1136650" y="1143002"/>
                </a:cubicBezTo>
                <a:cubicBezTo>
                  <a:pt x="1136650" y="511739"/>
                  <a:pt x="1648390" y="0"/>
                  <a:pt x="2279650"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endParaRPr lang="en-US" dirty="0"/>
          </a:p>
        </p:txBody>
      </p:sp>
      <p:pic>
        <p:nvPicPr>
          <p:cNvPr id="120" name="Graphic 119">
            <a:extLst>
              <a:ext uri="{FF2B5EF4-FFF2-40B4-BE49-F238E27FC236}">
                <a16:creationId xmlns:a16="http://schemas.microsoft.com/office/drawing/2014/main" id="{9C01A786-0C1A-6C4A-1466-1AE233D142A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68908" b="83148"/>
          <a:stretch/>
        </p:blipFill>
        <p:spPr>
          <a:xfrm>
            <a:off x="8401354" y="12700"/>
            <a:ext cx="3790646" cy="1155700"/>
          </a:xfrm>
          <a:prstGeom prst="rect">
            <a:avLst/>
          </a:prstGeom>
        </p:spPr>
      </p:pic>
    </p:spTree>
    <p:extLst>
      <p:ext uri="{BB962C8B-B14F-4D97-AF65-F5344CB8AC3E}">
        <p14:creationId xmlns:p14="http://schemas.microsoft.com/office/powerpoint/2010/main" val="3740971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b="1"/>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457200" indent="-457200">
              <a:lnSpc>
                <a:spcPct val="90000"/>
              </a:lnSpc>
              <a:spcBef>
                <a:spcPts val="1000"/>
              </a:spcBef>
              <a:spcAft>
                <a:spcPts val="0"/>
              </a:spcAft>
              <a:buSzPct val="100000"/>
              <a:buFont typeface="+mj-lt"/>
              <a:buAutoNum type="arabicPeriod"/>
              <a:defRPr sz="2000"/>
            </a:lvl1pPr>
            <a:lvl2pPr marL="914400" indent="-457200">
              <a:buSzPct val="100000"/>
              <a:buFont typeface="+mj-lt"/>
              <a:buAutoNum type="alphaLcPeriod"/>
              <a:defRPr sz="2000"/>
            </a:lvl2pPr>
            <a:lvl3pPr marL="1371600" indent="-457200">
              <a:buSzPct val="100000"/>
              <a:buFont typeface="+mj-lt"/>
              <a:buAutoNum type="romanLcPeriod"/>
              <a:defRPr sz="1800"/>
            </a:lvl3pPr>
            <a:lvl4pPr marL="1828800" indent="-457200">
              <a:buSzPct val="100000"/>
              <a:buFont typeface="+mj-lt"/>
              <a:buAutoNum type="arabicParenR"/>
              <a:defRPr sz="1800"/>
            </a:lvl4pPr>
            <a:lvl5pPr marL="2286000" indent="-457200">
              <a:buSzPct val="100000"/>
              <a:buFont typeface="+mj-lt"/>
              <a:buAutoNum type="alphaLcParen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284607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13" name="Title 123">
            <a:extLst>
              <a:ext uri="{FF2B5EF4-FFF2-40B4-BE49-F238E27FC236}">
                <a16:creationId xmlns:a16="http://schemas.microsoft.com/office/drawing/2014/main" id="{0B9C7C4B-FC2C-5D51-5679-3D5ED85185DA}"/>
              </a:ext>
            </a:extLst>
          </p:cNvPr>
          <p:cNvSpPr>
            <a:spLocks noGrp="1"/>
          </p:cNvSpPr>
          <p:nvPr>
            <p:ph type="title"/>
          </p:nvPr>
        </p:nvSpPr>
        <p:spPr>
          <a:xfrm>
            <a:off x="841243" y="832104"/>
            <a:ext cx="10479088" cy="2587625"/>
          </a:xfrm>
        </p:spPr>
        <p:txBody>
          <a:bodyPr anchor="t"/>
          <a:lstStyle>
            <a:lvl1pPr>
              <a:lnSpc>
                <a:spcPct val="75000"/>
              </a:lnSpc>
              <a:defRPr sz="8000" b="0" spc="0" baseline="0">
                <a:solidFill>
                  <a:schemeClr val="bg1"/>
                </a:solidFill>
                <a:latin typeface="+mn-lt"/>
              </a:defRPr>
            </a:lvl1pPr>
          </a:lstStyle>
          <a:p>
            <a:r>
              <a:rPr lang="en-US" dirty="0"/>
              <a:t>Click to edit Master title style</a:t>
            </a:r>
          </a:p>
        </p:txBody>
      </p:sp>
      <p:sp>
        <p:nvSpPr>
          <p:cNvPr id="10" name="Text Placeholder 9">
            <a:extLst>
              <a:ext uri="{FF2B5EF4-FFF2-40B4-BE49-F238E27FC236}">
                <a16:creationId xmlns:a16="http://schemas.microsoft.com/office/drawing/2014/main" id="{C79F5B69-7199-E3E6-5554-6CC2207D48E4}"/>
              </a:ext>
            </a:extLst>
          </p:cNvPr>
          <p:cNvSpPr>
            <a:spLocks noGrp="1"/>
          </p:cNvSpPr>
          <p:nvPr>
            <p:ph type="body" sz="quarter" idx="11"/>
          </p:nvPr>
        </p:nvSpPr>
        <p:spPr>
          <a:xfrm>
            <a:off x="841375" y="3705309"/>
            <a:ext cx="10479088" cy="2587625"/>
          </a:xfrm>
        </p:spPr>
        <p:txBody>
          <a:bodyPr/>
          <a:lstStyle>
            <a:lvl1pPr marL="0" indent="0">
              <a:lnSpc>
                <a:spcPct val="130000"/>
              </a:lnSpc>
              <a:spcAft>
                <a:spcPts val="1000"/>
              </a:spcAft>
              <a:buNone/>
              <a:defRPr b="1" i="0" cap="all" spc="300" baseline="0">
                <a:solidFill>
                  <a:schemeClr val="bg1"/>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1430931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9200" cy="432000"/>
          </a:xfrm>
          <a:prstGeom prst="rect">
            <a:avLst/>
          </a:prstGeom>
        </p:spPr>
        <p:txBody>
          <a:bodyPr vert="horz" lIns="0" tIns="0" rIns="0" bIns="0" rtlCol="0" anchor="ctr">
            <a:noAutofit/>
          </a:bodyPr>
          <a:lstStyle/>
          <a:p>
            <a:pPr lvl="0"/>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29200" cy="503925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dirty="0"/>
              <a:t>FOOTER TITLE</a:t>
            </a:r>
          </a:p>
        </p:txBody>
      </p:sp>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0917936" y="6385422"/>
            <a:ext cx="843264" cy="288000"/>
          </a:xfrm>
          <a:prstGeom prst="rect">
            <a:avLst/>
          </a:prstGeom>
          <a:noFill/>
        </p:spPr>
        <p:txBody>
          <a:bodyPr lIns="0" tIns="0" rIns="0" bIns="0" anchor="ctr"/>
          <a:lstStyle>
            <a:lvl1pPr algn="r">
              <a:defRPr lang="en-ZA" sz="1000" b="0" smtClean="0">
                <a:solidFill>
                  <a:sysClr val="windowText" lastClr="000000"/>
                </a:solidFill>
              </a:defRPr>
            </a:lvl1p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hf hdr="0" ft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347472" indent="-347472" algn="l" defTabSz="914400" rtl="0" eaLnBrk="1" latinLnBrk="0" hangingPunct="1">
        <a:lnSpc>
          <a:spcPct val="90000"/>
        </a:lnSpc>
        <a:spcBef>
          <a:spcPts val="0"/>
        </a:spcBef>
        <a:spcAft>
          <a:spcPts val="1800"/>
        </a:spcAft>
        <a:buSzPct val="75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16.png"/><Relationship Id="rId7" Type="http://schemas.openxmlformats.org/officeDocument/2006/relationships/diagramLayout" Target="../diagrams/layout1.xml"/><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diagramData" Target="../diagrams/data1.xml"/><Relationship Id="rId5" Type="http://schemas.openxmlformats.org/officeDocument/2006/relationships/image" Target="../media/image18.png"/><Relationship Id="rId10" Type="http://schemas.microsoft.com/office/2007/relationships/diagramDrawing" Target="../diagrams/drawing1.xml"/><Relationship Id="rId4" Type="http://schemas.openxmlformats.org/officeDocument/2006/relationships/image" Target="../media/image17.png"/><Relationship Id="rId9" Type="http://schemas.openxmlformats.org/officeDocument/2006/relationships/diagramColors" Target="../diagrams/colors1.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colab.research.google.com/drive/14XxHp_Otf4y2BaO_mfVMW7L9PzNde_6A?usp=sharing" TargetMode="External"/><Relationship Id="rId2" Type="http://schemas.openxmlformats.org/officeDocument/2006/relationships/hyperlink" Target="https://colab.research.google.com/drive/1Vk9o9fbJUWgep5noEM_o7P4sVbUt0-S8?usp=sharing"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F917E-922A-1054-6306-D37C378F1165}"/>
              </a:ext>
            </a:extLst>
          </p:cNvPr>
          <p:cNvSpPr>
            <a:spLocks noGrp="1"/>
          </p:cNvSpPr>
          <p:nvPr>
            <p:ph type="title"/>
          </p:nvPr>
        </p:nvSpPr>
        <p:spPr>
          <a:xfrm>
            <a:off x="841248" y="953008"/>
            <a:ext cx="10479024" cy="557784"/>
          </a:xfrm>
        </p:spPr>
        <p:txBody>
          <a:bodyPr/>
          <a:lstStyle/>
          <a:p>
            <a:r>
              <a:rPr lang="en-US" dirty="0"/>
              <a:t>case project-1</a:t>
            </a:r>
            <a:br>
              <a:rPr lang="en-US" dirty="0"/>
            </a:br>
            <a:endParaRPr lang="en-US"/>
          </a:p>
        </p:txBody>
      </p:sp>
      <p:sp>
        <p:nvSpPr>
          <p:cNvPr id="3" name="Text Placeholder 2">
            <a:extLst>
              <a:ext uri="{FF2B5EF4-FFF2-40B4-BE49-F238E27FC236}">
                <a16:creationId xmlns:a16="http://schemas.microsoft.com/office/drawing/2014/main" id="{1C3D50B0-02F8-A1E6-8A67-C0B7034A4743}"/>
              </a:ext>
            </a:extLst>
          </p:cNvPr>
          <p:cNvSpPr>
            <a:spLocks noGrp="1"/>
          </p:cNvSpPr>
          <p:nvPr>
            <p:ph type="body" sz="quarter" idx="10"/>
          </p:nvPr>
        </p:nvSpPr>
        <p:spPr>
          <a:xfrm>
            <a:off x="841247" y="1515872"/>
            <a:ext cx="10479215" cy="4480560"/>
          </a:xfrm>
        </p:spPr>
        <p:txBody>
          <a:bodyPr vert="horz" lIns="0" tIns="0" rIns="0" bIns="0" rtlCol="0" anchor="t">
            <a:noAutofit/>
          </a:bodyPr>
          <a:lstStyle/>
          <a:p>
            <a:r>
              <a:rPr lang="en-US" sz="6000" dirty="0">
                <a:solidFill>
                  <a:srgbClr val="F2F2F2"/>
                </a:solidFill>
                <a:latin typeface="Aptos Serif"/>
                <a:ea typeface="Roboto"/>
                <a:cs typeface="Roboto"/>
              </a:rPr>
              <a:t>Facebook Live Sellers Dataset</a:t>
            </a:r>
            <a:endParaRPr lang="en-US" dirty="0">
              <a:latin typeface="Aptos Serif"/>
            </a:endParaRPr>
          </a:p>
          <a:p>
            <a:endParaRPr lang="en-US" dirty="0"/>
          </a:p>
        </p:txBody>
      </p:sp>
      <p:sp>
        <p:nvSpPr>
          <p:cNvPr id="4" name="L-Shape 3">
            <a:extLst>
              <a:ext uri="{FF2B5EF4-FFF2-40B4-BE49-F238E27FC236}">
                <a16:creationId xmlns:a16="http://schemas.microsoft.com/office/drawing/2014/main" id="{9E8F8A3B-4CAA-BB06-6525-5A577967295C}"/>
              </a:ext>
            </a:extLst>
          </p:cNvPr>
          <p:cNvSpPr/>
          <p:nvPr/>
        </p:nvSpPr>
        <p:spPr>
          <a:xfrm rot="10800000" flipH="1">
            <a:off x="447040" y="492760"/>
            <a:ext cx="213360" cy="5852160"/>
          </a:xfrm>
          <a:prstGeom prst="corner">
            <a:avLst/>
          </a:prstGeom>
          <a:solidFill>
            <a:schemeClr val="accent6">
              <a:lumMod val="60000"/>
              <a:lumOff val="40000"/>
            </a:schemeClr>
          </a:solidFill>
          <a:ln>
            <a:solidFill>
              <a:schemeClr val="accent6">
                <a:lumMod val="5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 name="Rectangle 4">
            <a:extLst>
              <a:ext uri="{FF2B5EF4-FFF2-40B4-BE49-F238E27FC236}">
                <a16:creationId xmlns:a16="http://schemas.microsoft.com/office/drawing/2014/main" id="{E00F182D-578F-4BED-44CD-2595F0A04103}"/>
              </a:ext>
            </a:extLst>
          </p:cNvPr>
          <p:cNvSpPr/>
          <p:nvPr/>
        </p:nvSpPr>
        <p:spPr>
          <a:xfrm>
            <a:off x="457835" y="513715"/>
            <a:ext cx="548640" cy="10160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7" name="TextBox 6">
            <a:extLst>
              <a:ext uri="{FF2B5EF4-FFF2-40B4-BE49-F238E27FC236}">
                <a16:creationId xmlns:a16="http://schemas.microsoft.com/office/drawing/2014/main" id="{A4FD0D13-8711-66E7-10D4-69D76F82B9C5}"/>
              </a:ext>
            </a:extLst>
          </p:cNvPr>
          <p:cNvSpPr txBox="1"/>
          <p:nvPr/>
        </p:nvSpPr>
        <p:spPr>
          <a:xfrm>
            <a:off x="8393999" y="5428741"/>
            <a:ext cx="3354676" cy="923330"/>
          </a:xfrm>
          <a:prstGeom prst="rect">
            <a:avLst/>
          </a:prstGeom>
          <a:noFill/>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algn="r"/>
            <a:r>
              <a:rPr lang="en-US" dirty="0">
                <a:solidFill>
                  <a:schemeClr val="accent6">
                    <a:lumMod val="40000"/>
                    <a:lumOff val="60000"/>
                  </a:schemeClr>
                </a:solidFill>
              </a:rPr>
              <a:t>Khushi Shah</a:t>
            </a:r>
          </a:p>
          <a:p>
            <a:pPr algn="r"/>
            <a:r>
              <a:rPr lang="en-US" dirty="0">
                <a:solidFill>
                  <a:schemeClr val="accent6">
                    <a:lumMod val="40000"/>
                    <a:lumOff val="60000"/>
                  </a:schemeClr>
                </a:solidFill>
              </a:rPr>
              <a:t>IIT Gandhinagar</a:t>
            </a:r>
            <a:br>
              <a:rPr lang="en-US" dirty="0">
                <a:solidFill>
                  <a:schemeClr val="accent6">
                    <a:lumMod val="40000"/>
                    <a:lumOff val="60000"/>
                  </a:schemeClr>
                </a:solidFill>
              </a:rPr>
            </a:br>
            <a:r>
              <a:rPr lang="en-US" dirty="0">
                <a:solidFill>
                  <a:schemeClr val="accent6">
                    <a:lumMod val="40000"/>
                    <a:lumOff val="60000"/>
                  </a:schemeClr>
                </a:solidFill>
              </a:rPr>
              <a:t>24110326@iitgn.ac.in</a:t>
            </a:r>
          </a:p>
        </p:txBody>
      </p:sp>
    </p:spTree>
    <p:extLst>
      <p:ext uri="{BB962C8B-B14F-4D97-AF65-F5344CB8AC3E}">
        <p14:creationId xmlns:p14="http://schemas.microsoft.com/office/powerpoint/2010/main" val="1516999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CD930-5DE6-9C80-BE11-6A82B20FCF92}"/>
              </a:ext>
            </a:extLst>
          </p:cNvPr>
          <p:cNvSpPr>
            <a:spLocks noGrp="1"/>
          </p:cNvSpPr>
          <p:nvPr>
            <p:ph type="title"/>
          </p:nvPr>
        </p:nvSpPr>
        <p:spPr>
          <a:xfrm>
            <a:off x="648208" y="485648"/>
            <a:ext cx="10479024" cy="557784"/>
          </a:xfrm>
        </p:spPr>
        <p:txBody>
          <a:bodyPr/>
          <a:lstStyle/>
          <a:p>
            <a:r>
              <a:rPr lang="en-US" sz="2400" dirty="0"/>
              <a:t>Dataset analysis:</a:t>
            </a:r>
            <a:br>
              <a:rPr lang="en-US" dirty="0"/>
            </a:br>
            <a:endParaRPr lang="en-US" dirty="0"/>
          </a:p>
        </p:txBody>
      </p:sp>
      <p:pic>
        <p:nvPicPr>
          <p:cNvPr id="5" name="Content Placeholder 4" descr="A screenshot of a graph&#10;&#10;AI-generated content may be incorrect.">
            <a:extLst>
              <a:ext uri="{FF2B5EF4-FFF2-40B4-BE49-F238E27FC236}">
                <a16:creationId xmlns:a16="http://schemas.microsoft.com/office/drawing/2014/main" id="{396B0B24-E04E-B45E-88A8-270BAB7D0BFA}"/>
              </a:ext>
            </a:extLst>
          </p:cNvPr>
          <p:cNvPicPr>
            <a:picLocks noGrp="1" noChangeAspect="1"/>
          </p:cNvPicPr>
          <p:nvPr>
            <p:ph sz="quarter" idx="13"/>
          </p:nvPr>
        </p:nvPicPr>
        <p:blipFill>
          <a:blip r:embed="rId2"/>
          <a:stretch>
            <a:fillRect/>
          </a:stretch>
        </p:blipFill>
        <p:spPr>
          <a:xfrm>
            <a:off x="648208" y="2516825"/>
            <a:ext cx="10904855" cy="3728969"/>
          </a:xfrm>
        </p:spPr>
      </p:pic>
      <p:sp>
        <p:nvSpPr>
          <p:cNvPr id="4" name="Slide Number Placeholder 3">
            <a:extLst>
              <a:ext uri="{FF2B5EF4-FFF2-40B4-BE49-F238E27FC236}">
                <a16:creationId xmlns:a16="http://schemas.microsoft.com/office/drawing/2014/main" id="{2FF5D2CC-C963-8BE5-8197-58E012DFD313}"/>
              </a:ext>
            </a:extLst>
          </p:cNvPr>
          <p:cNvSpPr>
            <a:spLocks noGrp="1"/>
          </p:cNvSpPr>
          <p:nvPr>
            <p:ph type="sldNum" sz="quarter" idx="11"/>
          </p:nvPr>
        </p:nvSpPr>
        <p:spPr/>
        <p:txBody>
          <a:bodyPr/>
          <a:lstStyle/>
          <a:p>
            <a:fld id="{B67B645E-C5E5-4727-B977-D372A0AA71D9}" type="slidenum">
              <a:rPr lang="en-US" smtClean="0"/>
              <a:pPr/>
              <a:t>2</a:t>
            </a:fld>
            <a:endParaRPr lang="en-US" dirty="0"/>
          </a:p>
        </p:txBody>
      </p:sp>
      <p:sp>
        <p:nvSpPr>
          <p:cNvPr id="6" name="TextBox 5">
            <a:extLst>
              <a:ext uri="{FF2B5EF4-FFF2-40B4-BE49-F238E27FC236}">
                <a16:creationId xmlns:a16="http://schemas.microsoft.com/office/drawing/2014/main" id="{345569AC-CE38-F10B-80E5-ACE513290932}"/>
              </a:ext>
            </a:extLst>
          </p:cNvPr>
          <p:cNvSpPr txBox="1"/>
          <p:nvPr/>
        </p:nvSpPr>
        <p:spPr>
          <a:xfrm>
            <a:off x="750360" y="1119585"/>
            <a:ext cx="4788012" cy="11076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extBox 8">
            <a:extLst>
              <a:ext uri="{FF2B5EF4-FFF2-40B4-BE49-F238E27FC236}">
                <a16:creationId xmlns:a16="http://schemas.microsoft.com/office/drawing/2014/main" id="{DE9A281F-98A7-3C09-771D-D5538BC1F94B}"/>
              </a:ext>
            </a:extLst>
          </p:cNvPr>
          <p:cNvSpPr txBox="1"/>
          <p:nvPr/>
        </p:nvSpPr>
        <p:spPr>
          <a:xfrm>
            <a:off x="1250600" y="1191047"/>
            <a:ext cx="3954278" cy="5955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id="{6637A286-163D-D681-856B-2C621047CC73}"/>
              </a:ext>
            </a:extLst>
          </p:cNvPr>
          <p:cNvSpPr txBox="1"/>
          <p:nvPr/>
        </p:nvSpPr>
        <p:spPr>
          <a:xfrm>
            <a:off x="557247" y="1042148"/>
            <a:ext cx="949777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accent6">
                    <a:lumMod val="49000"/>
                  </a:schemeClr>
                </a:solidFill>
              </a:rPr>
              <a:t>Initial Step: </a:t>
            </a:r>
          </a:p>
          <a:p>
            <a:pPr marL="285750" indent="-285750">
              <a:buFont typeface="Calibri"/>
              <a:buChar char="-"/>
            </a:pPr>
            <a:r>
              <a:rPr lang="en-US" dirty="0">
                <a:solidFill>
                  <a:schemeClr val="accent6">
                    <a:lumMod val="49000"/>
                  </a:schemeClr>
                </a:solidFill>
              </a:rPr>
              <a:t>Display the dataset to be know about the columns and the datatypes present.</a:t>
            </a:r>
          </a:p>
          <a:p>
            <a:pPr marL="285750" indent="-285750">
              <a:buFont typeface="Calibri"/>
              <a:buChar char="-"/>
            </a:pPr>
            <a:r>
              <a:rPr lang="en-US" dirty="0">
                <a:solidFill>
                  <a:schemeClr val="accent6">
                    <a:lumMod val="49000"/>
                  </a:schemeClr>
                </a:solidFill>
              </a:rPr>
              <a:t>Number of </a:t>
            </a:r>
            <a:r>
              <a:rPr lang="en-US" err="1">
                <a:solidFill>
                  <a:schemeClr val="accent6">
                    <a:lumMod val="49000"/>
                  </a:schemeClr>
                </a:solidFill>
              </a:rPr>
              <a:t>NaN</a:t>
            </a:r>
            <a:r>
              <a:rPr lang="en-US" dirty="0">
                <a:solidFill>
                  <a:schemeClr val="accent6">
                    <a:lumMod val="49000"/>
                  </a:schemeClr>
                </a:solidFill>
              </a:rPr>
              <a:t> values present in each column and either removing them or replacing them with mean or zero.</a:t>
            </a:r>
          </a:p>
        </p:txBody>
      </p:sp>
    </p:spTree>
    <p:extLst>
      <p:ext uri="{BB962C8B-B14F-4D97-AF65-F5344CB8AC3E}">
        <p14:creationId xmlns:p14="http://schemas.microsoft.com/office/powerpoint/2010/main" val="1983900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screen shot of a computer&#10;&#10;AI-generated content may be incorrect.">
            <a:extLst>
              <a:ext uri="{FF2B5EF4-FFF2-40B4-BE49-F238E27FC236}">
                <a16:creationId xmlns:a16="http://schemas.microsoft.com/office/drawing/2014/main" id="{0625581A-E364-1CEC-5762-EC68542F9D19}"/>
              </a:ext>
            </a:extLst>
          </p:cNvPr>
          <p:cNvPicPr>
            <a:picLocks noGrp="1" noChangeAspect="1"/>
          </p:cNvPicPr>
          <p:nvPr>
            <p:ph type="pic" sz="quarter" idx="11"/>
          </p:nvPr>
        </p:nvPicPr>
        <p:blipFill>
          <a:blip r:embed="rId2"/>
          <a:srcRect l="3755" r="3755"/>
          <a:stretch/>
        </p:blipFill>
        <p:spPr>
          <a:xfrm>
            <a:off x="502920" y="1711864"/>
            <a:ext cx="6944360" cy="4466528"/>
          </a:xfrm>
        </p:spPr>
      </p:pic>
      <p:sp>
        <p:nvSpPr>
          <p:cNvPr id="3" name="Title 2">
            <a:extLst>
              <a:ext uri="{FF2B5EF4-FFF2-40B4-BE49-F238E27FC236}">
                <a16:creationId xmlns:a16="http://schemas.microsoft.com/office/drawing/2014/main" id="{39442DAE-60A3-085A-5E60-5B7D15E0E5B2}"/>
              </a:ext>
            </a:extLst>
          </p:cNvPr>
          <p:cNvSpPr>
            <a:spLocks noGrp="1"/>
          </p:cNvSpPr>
          <p:nvPr>
            <p:ph type="title"/>
          </p:nvPr>
        </p:nvSpPr>
        <p:spPr>
          <a:xfrm>
            <a:off x="505968" y="831088"/>
            <a:ext cx="6931152" cy="557784"/>
          </a:xfrm>
        </p:spPr>
        <p:txBody>
          <a:bodyPr/>
          <a:lstStyle/>
          <a:p>
            <a:r>
              <a:rPr lang="en-US" sz="3200" dirty="0"/>
              <a:t>Question-1</a:t>
            </a:r>
          </a:p>
        </p:txBody>
      </p:sp>
      <p:sp>
        <p:nvSpPr>
          <p:cNvPr id="11" name="Rectangle 10">
            <a:extLst>
              <a:ext uri="{FF2B5EF4-FFF2-40B4-BE49-F238E27FC236}">
                <a16:creationId xmlns:a16="http://schemas.microsoft.com/office/drawing/2014/main" id="{12C1CE9F-9B38-8FAF-341F-9AC96D6DCA46}"/>
              </a:ext>
            </a:extLst>
          </p:cNvPr>
          <p:cNvSpPr/>
          <p:nvPr/>
        </p:nvSpPr>
        <p:spPr>
          <a:xfrm>
            <a:off x="3261995" y="3165475"/>
            <a:ext cx="8839200" cy="165608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0DC1D85D-4651-5787-CCFA-5E6AD7C646A1}"/>
              </a:ext>
            </a:extLst>
          </p:cNvPr>
          <p:cNvSpPr>
            <a:spLocks noGrp="1"/>
          </p:cNvSpPr>
          <p:nvPr>
            <p:ph type="body" sz="quarter" idx="10"/>
          </p:nvPr>
        </p:nvSpPr>
        <p:spPr>
          <a:xfrm>
            <a:off x="3259327" y="3425952"/>
            <a:ext cx="8638032" cy="4480560"/>
          </a:xfrm>
        </p:spPr>
        <p:txBody>
          <a:bodyPr vert="horz" lIns="0" tIns="0" rIns="0" bIns="0" rtlCol="0" anchor="t">
            <a:noAutofit/>
          </a:bodyPr>
          <a:lstStyle/>
          <a:p>
            <a:pPr algn="r">
              <a:lnSpc>
                <a:spcPct val="100000"/>
              </a:lnSpc>
            </a:pPr>
            <a:r>
              <a:rPr lang="en-US" sz="3600" dirty="0">
                <a:solidFill>
                  <a:schemeClr val="accent6">
                    <a:lumMod val="49000"/>
                  </a:schemeClr>
                </a:solidFill>
                <a:latin typeface="Californian FB"/>
                <a:ea typeface="+mn-lt"/>
                <a:cs typeface="+mn-lt"/>
              </a:rPr>
              <a:t>How does the time of upload (status_published)  affect the num_reaction?</a:t>
            </a:r>
            <a:endParaRPr lang="en-US" sz="3600">
              <a:solidFill>
                <a:schemeClr val="accent6">
                  <a:lumMod val="49000"/>
                </a:schemeClr>
              </a:solidFill>
              <a:latin typeface="Californian FB"/>
            </a:endParaRPr>
          </a:p>
          <a:p>
            <a:endParaRPr lang="en-US" dirty="0">
              <a:solidFill>
                <a:schemeClr val="accent6">
                  <a:lumMod val="49000"/>
                </a:schemeClr>
              </a:solidFill>
            </a:endParaRPr>
          </a:p>
        </p:txBody>
      </p:sp>
    </p:spTree>
    <p:extLst>
      <p:ext uri="{BB962C8B-B14F-4D97-AF65-F5344CB8AC3E}">
        <p14:creationId xmlns:p14="http://schemas.microsoft.com/office/powerpoint/2010/main" val="2638169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DE4C01E-D763-16F1-B36B-BF2D23209BF7}"/>
              </a:ext>
            </a:extLst>
          </p:cNvPr>
          <p:cNvSpPr/>
          <p:nvPr/>
        </p:nvSpPr>
        <p:spPr>
          <a:xfrm>
            <a:off x="0" y="297543"/>
            <a:ext cx="6097485" cy="656121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3CF7B430-8D22-1998-2D13-6CF4BC816970}"/>
              </a:ext>
            </a:extLst>
          </p:cNvPr>
          <p:cNvSpPr>
            <a:spLocks noGrp="1"/>
          </p:cNvSpPr>
          <p:nvPr>
            <p:ph type="title"/>
          </p:nvPr>
        </p:nvSpPr>
        <p:spPr>
          <a:xfrm>
            <a:off x="6454939" y="297688"/>
            <a:ext cx="5255768" cy="557784"/>
          </a:xfrm>
        </p:spPr>
        <p:txBody>
          <a:bodyPr/>
          <a:lstStyle/>
          <a:p>
            <a:pPr>
              <a:lnSpc>
                <a:spcPct val="100000"/>
              </a:lnSpc>
            </a:pPr>
            <a:r>
              <a:rPr lang="en-US" sz="1800" dirty="0">
                <a:latin typeface="Century"/>
              </a:rPr>
              <a:t>APPROACH:</a:t>
            </a:r>
            <a:endParaRPr lang="en-US" sz="1800"/>
          </a:p>
        </p:txBody>
      </p:sp>
      <p:sp>
        <p:nvSpPr>
          <p:cNvPr id="5" name="Slide Number Placeholder 4">
            <a:extLst>
              <a:ext uri="{FF2B5EF4-FFF2-40B4-BE49-F238E27FC236}">
                <a16:creationId xmlns:a16="http://schemas.microsoft.com/office/drawing/2014/main" id="{1B6CDE6E-47EE-09E0-07F7-D6ABE09901A1}"/>
              </a:ext>
            </a:extLst>
          </p:cNvPr>
          <p:cNvSpPr>
            <a:spLocks noGrp="1"/>
          </p:cNvSpPr>
          <p:nvPr>
            <p:ph type="sldNum" sz="quarter" idx="11"/>
          </p:nvPr>
        </p:nvSpPr>
        <p:spPr/>
        <p:txBody>
          <a:bodyPr/>
          <a:lstStyle/>
          <a:p>
            <a:fld id="{B67B645E-C5E5-4727-B977-D372A0AA71D9}" type="slidenum">
              <a:rPr lang="en-US" smtClean="0"/>
              <a:pPr/>
              <a:t>4</a:t>
            </a:fld>
            <a:endParaRPr lang="en-US" dirty="0"/>
          </a:p>
        </p:txBody>
      </p:sp>
      <p:sp>
        <p:nvSpPr>
          <p:cNvPr id="10" name="Content Placeholder 9">
            <a:extLst>
              <a:ext uri="{FF2B5EF4-FFF2-40B4-BE49-F238E27FC236}">
                <a16:creationId xmlns:a16="http://schemas.microsoft.com/office/drawing/2014/main" id="{74004ABB-6F62-5219-0B52-178C92911CC9}"/>
              </a:ext>
            </a:extLst>
          </p:cNvPr>
          <p:cNvSpPr>
            <a:spLocks noGrp="1"/>
          </p:cNvSpPr>
          <p:nvPr>
            <p:ph sz="quarter" idx="13"/>
          </p:nvPr>
        </p:nvSpPr>
        <p:spPr>
          <a:xfrm>
            <a:off x="6450582" y="678065"/>
            <a:ext cx="5387123" cy="2238981"/>
          </a:xfrm>
        </p:spPr>
        <p:txBody>
          <a:bodyPr vert="horz" lIns="0" tIns="0" rIns="0" bIns="0" rtlCol="0" anchor="t">
            <a:normAutofit/>
          </a:bodyPr>
          <a:lstStyle/>
          <a:p>
            <a:pPr marL="347345" indent="-347345" algn="just"/>
            <a:r>
              <a:rPr lang="en-US" sz="1800" dirty="0">
                <a:solidFill>
                  <a:schemeClr val="accent6">
                    <a:lumMod val="49000"/>
                  </a:schemeClr>
                </a:solidFill>
                <a:latin typeface="Cambria Math"/>
                <a:ea typeface="Cambria Math"/>
              </a:rPr>
              <a:t>To extract the time data from the column "status_published" and assigning it a new column as "publish_time"</a:t>
            </a:r>
          </a:p>
          <a:p>
            <a:pPr marL="347345" indent="-347345" algn="just"/>
            <a:r>
              <a:rPr lang="en-US" sz="1800" dirty="0">
                <a:solidFill>
                  <a:schemeClr val="accent6">
                    <a:lumMod val="49000"/>
                  </a:schemeClr>
                </a:solidFill>
                <a:latin typeface="Cambria Math"/>
                <a:ea typeface="Cambria Math"/>
              </a:rPr>
              <a:t>This ensures that both the elements between which comparison needs to place are present.</a:t>
            </a:r>
          </a:p>
          <a:p>
            <a:pPr marL="347345" indent="-347345" algn="just"/>
            <a:r>
              <a:rPr lang="en-US" sz="1800" dirty="0">
                <a:solidFill>
                  <a:schemeClr val="accent6">
                    <a:lumMod val="49000"/>
                  </a:schemeClr>
                </a:solidFill>
                <a:latin typeface="Cambria Math"/>
                <a:ea typeface="Cambria Math"/>
              </a:rPr>
              <a:t>Plotting a scatter plot to analyze the relation</a:t>
            </a:r>
            <a:r>
              <a:rPr lang="en-US" sz="1800" dirty="0">
                <a:latin typeface="Cambria Math"/>
                <a:ea typeface="Cambria Math"/>
              </a:rPr>
              <a:t>.</a:t>
            </a:r>
          </a:p>
        </p:txBody>
      </p:sp>
      <p:sp>
        <p:nvSpPr>
          <p:cNvPr id="12" name="TextBox 11">
            <a:extLst>
              <a:ext uri="{FF2B5EF4-FFF2-40B4-BE49-F238E27FC236}">
                <a16:creationId xmlns:a16="http://schemas.microsoft.com/office/drawing/2014/main" id="{BEF9BFEB-F6DB-FA6E-B056-6ECF87BFF964}"/>
              </a:ext>
            </a:extLst>
          </p:cNvPr>
          <p:cNvSpPr txBox="1"/>
          <p:nvPr/>
        </p:nvSpPr>
        <p:spPr>
          <a:xfrm>
            <a:off x="4233" y="468206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cap="all" dirty="0">
                <a:solidFill>
                  <a:srgbClr val="262626"/>
                </a:solidFill>
                <a:latin typeface="Century"/>
              </a:rPr>
              <a:t>INTERPRETATION:</a:t>
            </a:r>
            <a:endParaRPr lang="en-US" dirty="0"/>
          </a:p>
        </p:txBody>
      </p:sp>
      <p:sp>
        <p:nvSpPr>
          <p:cNvPr id="13" name="TextBox 12">
            <a:extLst>
              <a:ext uri="{FF2B5EF4-FFF2-40B4-BE49-F238E27FC236}">
                <a16:creationId xmlns:a16="http://schemas.microsoft.com/office/drawing/2014/main" id="{76658110-7B37-8EB4-DE21-267636D9AA8E}"/>
              </a:ext>
            </a:extLst>
          </p:cNvPr>
          <p:cNvSpPr txBox="1"/>
          <p:nvPr/>
        </p:nvSpPr>
        <p:spPr>
          <a:xfrm>
            <a:off x="4234" y="5084233"/>
            <a:ext cx="587586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rgbClr val="0A4B9D"/>
                </a:solidFill>
                <a:latin typeface="Cambria Math"/>
                <a:ea typeface="Cambria Math"/>
                <a:cs typeface="Arial"/>
              </a:rPr>
              <a:t>According to the graph:</a:t>
            </a:r>
            <a:endParaRPr lang="en-US"/>
          </a:p>
          <a:p>
            <a:pPr marL="342900" indent="-342900" algn="just">
              <a:buFont typeface="Calibri"/>
              <a:buChar char="-"/>
            </a:pPr>
            <a:r>
              <a:rPr lang="en-US" dirty="0">
                <a:solidFill>
                  <a:srgbClr val="0A4B9D"/>
                </a:solidFill>
                <a:latin typeface="Cambria Math"/>
                <a:ea typeface="Cambria Math"/>
                <a:cs typeface="Arial"/>
              </a:rPr>
              <a:t>Early morning uploads receive the highest number of reactions.</a:t>
            </a:r>
          </a:p>
          <a:p>
            <a:pPr marL="342900" indent="-342900" algn="just">
              <a:buFont typeface="Calibri"/>
              <a:buChar char="-"/>
            </a:pPr>
            <a:r>
              <a:rPr lang="en-US" dirty="0">
                <a:solidFill>
                  <a:srgbClr val="0A4B9D"/>
                </a:solidFill>
                <a:latin typeface="Cambria Math"/>
                <a:ea typeface="Cambria Math"/>
                <a:cs typeface="Arial"/>
              </a:rPr>
              <a:t>Whereas the post uploaded during working hours (ranging from 11am –7pm) receive least number of reactions.</a:t>
            </a:r>
          </a:p>
        </p:txBody>
      </p:sp>
      <p:sp>
        <p:nvSpPr>
          <p:cNvPr id="16" name="Rectangle 15">
            <a:extLst>
              <a:ext uri="{FF2B5EF4-FFF2-40B4-BE49-F238E27FC236}">
                <a16:creationId xmlns:a16="http://schemas.microsoft.com/office/drawing/2014/main" id="{D8D92EBE-1C62-B1C3-93D0-7D4F7BA73FAD}"/>
              </a:ext>
            </a:extLst>
          </p:cNvPr>
          <p:cNvSpPr/>
          <p:nvPr/>
        </p:nvSpPr>
        <p:spPr>
          <a:xfrm>
            <a:off x="4114801" y="294217"/>
            <a:ext cx="1983315" cy="4893732"/>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4" name="TextBox 13">
            <a:extLst>
              <a:ext uri="{FF2B5EF4-FFF2-40B4-BE49-F238E27FC236}">
                <a16:creationId xmlns:a16="http://schemas.microsoft.com/office/drawing/2014/main" id="{E90FA0B2-B157-E6A2-866A-1B39CA0A07D4}"/>
              </a:ext>
            </a:extLst>
          </p:cNvPr>
          <p:cNvSpPr txBox="1"/>
          <p:nvPr/>
        </p:nvSpPr>
        <p:spPr>
          <a:xfrm>
            <a:off x="6333066" y="273473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dirty="0">
                <a:solidFill>
                  <a:srgbClr val="262626"/>
                </a:solidFill>
                <a:latin typeface="Century"/>
              </a:rPr>
              <a:t>CONCLUSION:</a:t>
            </a:r>
            <a:endParaRPr lang="en-US"/>
          </a:p>
        </p:txBody>
      </p:sp>
      <p:sp>
        <p:nvSpPr>
          <p:cNvPr id="15" name="TextBox 14">
            <a:extLst>
              <a:ext uri="{FF2B5EF4-FFF2-40B4-BE49-F238E27FC236}">
                <a16:creationId xmlns:a16="http://schemas.microsoft.com/office/drawing/2014/main" id="{CE6D630B-9C39-A1E8-D8C8-F6EDE8D70526}"/>
              </a:ext>
            </a:extLst>
          </p:cNvPr>
          <p:cNvSpPr txBox="1"/>
          <p:nvPr/>
        </p:nvSpPr>
        <p:spPr>
          <a:xfrm>
            <a:off x="6333067" y="3115733"/>
            <a:ext cx="5611283"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accent6">
                    <a:lumMod val="49000"/>
                  </a:schemeClr>
                </a:solidFill>
                <a:latin typeface="Cambria Math"/>
                <a:ea typeface="+mn-lt"/>
                <a:cs typeface="+mn-lt"/>
              </a:rPr>
              <a:t>It is evident from the graph that the </a:t>
            </a:r>
            <a:r>
              <a:rPr lang="en-US" b="1" dirty="0">
                <a:solidFill>
                  <a:schemeClr val="accent6">
                    <a:lumMod val="49000"/>
                  </a:schemeClr>
                </a:solidFill>
                <a:latin typeface="Cambria Math"/>
                <a:ea typeface="+mn-lt"/>
                <a:cs typeface="+mn-lt"/>
              </a:rPr>
              <a:t>time of upload significantly influences the number of reactions</a:t>
            </a:r>
            <a:r>
              <a:rPr lang="en-US" dirty="0">
                <a:solidFill>
                  <a:schemeClr val="accent6">
                    <a:lumMod val="49000"/>
                  </a:schemeClr>
                </a:solidFill>
                <a:latin typeface="Cambria Math"/>
                <a:ea typeface="+mn-lt"/>
                <a:cs typeface="+mn-lt"/>
              </a:rPr>
              <a:t> a post receives. On average, excluding extreme values, the number of reactions appears relatively </a:t>
            </a:r>
            <a:r>
              <a:rPr lang="en-US" b="1" dirty="0">
                <a:solidFill>
                  <a:schemeClr val="accent6">
                    <a:lumMod val="49000"/>
                  </a:schemeClr>
                </a:solidFill>
                <a:latin typeface="Cambria Math"/>
                <a:ea typeface="+mn-lt"/>
                <a:cs typeface="+mn-lt"/>
              </a:rPr>
              <a:t>uniform across different hours</a:t>
            </a:r>
            <a:r>
              <a:rPr lang="en-US" dirty="0">
                <a:solidFill>
                  <a:schemeClr val="accent6">
                    <a:lumMod val="49000"/>
                  </a:schemeClr>
                </a:solidFill>
                <a:latin typeface="Cambria Math"/>
                <a:ea typeface="+mn-lt"/>
                <a:cs typeface="+mn-lt"/>
              </a:rPr>
              <a:t>. However, the </a:t>
            </a:r>
            <a:r>
              <a:rPr lang="en-US" b="1" dirty="0">
                <a:solidFill>
                  <a:schemeClr val="accent6">
                    <a:lumMod val="49000"/>
                  </a:schemeClr>
                </a:solidFill>
                <a:latin typeface="Cambria Math"/>
                <a:ea typeface="+mn-lt"/>
                <a:cs typeface="+mn-lt"/>
              </a:rPr>
              <a:t>presence of outliers</a:t>
            </a:r>
            <a:r>
              <a:rPr lang="en-US" dirty="0">
                <a:solidFill>
                  <a:schemeClr val="accent6">
                    <a:lumMod val="49000"/>
                  </a:schemeClr>
                </a:solidFill>
                <a:latin typeface="Cambria Math"/>
                <a:ea typeface="+mn-lt"/>
                <a:cs typeface="+mn-lt"/>
              </a:rPr>
              <a:t>, particularly posts receiving </a:t>
            </a:r>
            <a:r>
              <a:rPr lang="en-US" b="1" dirty="0">
                <a:solidFill>
                  <a:schemeClr val="accent6">
                    <a:lumMod val="49000"/>
                  </a:schemeClr>
                </a:solidFill>
                <a:latin typeface="Cambria Math"/>
                <a:ea typeface="+mn-lt"/>
                <a:cs typeface="+mn-lt"/>
              </a:rPr>
              <a:t>more than 4000 reactions</a:t>
            </a:r>
            <a:r>
              <a:rPr lang="en-US" dirty="0">
                <a:solidFill>
                  <a:schemeClr val="accent6">
                    <a:lumMod val="49000"/>
                  </a:schemeClr>
                </a:solidFill>
                <a:latin typeface="Cambria Math"/>
                <a:ea typeface="+mn-lt"/>
                <a:cs typeface="+mn-lt"/>
              </a:rPr>
              <a:t>, is concentrated around the </a:t>
            </a:r>
            <a:r>
              <a:rPr lang="en-US" b="1" dirty="0">
                <a:solidFill>
                  <a:schemeClr val="accent6">
                    <a:lumMod val="49000"/>
                  </a:schemeClr>
                </a:solidFill>
                <a:latin typeface="Cambria Math"/>
                <a:ea typeface="+mn-lt"/>
                <a:cs typeface="+mn-lt"/>
              </a:rPr>
              <a:t>early morning hours </a:t>
            </a:r>
            <a:r>
              <a:rPr lang="en-US" dirty="0">
                <a:solidFill>
                  <a:schemeClr val="accent6">
                    <a:lumMod val="49000"/>
                  </a:schemeClr>
                </a:solidFill>
                <a:latin typeface="Cambria Math"/>
                <a:ea typeface="+mn-lt"/>
                <a:cs typeface="+mn-lt"/>
              </a:rPr>
              <a:t>. This may reflect increased user activity on Facebook shortly after waking up. In contrast, the </a:t>
            </a:r>
            <a:r>
              <a:rPr lang="en-US" b="1" dirty="0">
                <a:solidFill>
                  <a:schemeClr val="accent6">
                    <a:lumMod val="49000"/>
                  </a:schemeClr>
                </a:solidFill>
                <a:latin typeface="Cambria Math"/>
                <a:ea typeface="+mn-lt"/>
                <a:cs typeface="+mn-lt"/>
              </a:rPr>
              <a:t>afternoon hours show a noticeable dip in engagement</a:t>
            </a:r>
            <a:r>
              <a:rPr lang="en-US" dirty="0">
                <a:solidFill>
                  <a:schemeClr val="accent6">
                    <a:lumMod val="49000"/>
                  </a:schemeClr>
                </a:solidFill>
                <a:latin typeface="Cambria Math"/>
                <a:ea typeface="+mn-lt"/>
                <a:cs typeface="+mn-lt"/>
              </a:rPr>
              <a:t>, likely due to </a:t>
            </a:r>
            <a:r>
              <a:rPr lang="en-US" b="1" dirty="0">
                <a:solidFill>
                  <a:schemeClr val="accent6">
                    <a:lumMod val="49000"/>
                  </a:schemeClr>
                </a:solidFill>
                <a:latin typeface="Cambria Math"/>
                <a:ea typeface="+mn-lt"/>
                <a:cs typeface="+mn-lt"/>
              </a:rPr>
              <a:t>reduced usage during work hours</a:t>
            </a:r>
            <a:r>
              <a:rPr lang="en-US" dirty="0">
                <a:solidFill>
                  <a:schemeClr val="accent6">
                    <a:lumMod val="49000"/>
                  </a:schemeClr>
                </a:solidFill>
                <a:latin typeface="Cambria Math"/>
                <a:ea typeface="+mn-lt"/>
                <a:cs typeface="+mn-lt"/>
              </a:rPr>
              <a:t>, with most posts receiving </a:t>
            </a:r>
            <a:r>
              <a:rPr lang="en-US" b="1" dirty="0">
                <a:solidFill>
                  <a:schemeClr val="accent6">
                    <a:lumMod val="49000"/>
                  </a:schemeClr>
                </a:solidFill>
                <a:latin typeface="Cambria Math"/>
                <a:ea typeface="+mn-lt"/>
                <a:cs typeface="+mn-lt"/>
              </a:rPr>
              <a:t>fewer than 250 reactions</a:t>
            </a:r>
            <a:r>
              <a:rPr lang="en-US" dirty="0">
                <a:solidFill>
                  <a:schemeClr val="accent6">
                    <a:lumMod val="49000"/>
                  </a:schemeClr>
                </a:solidFill>
                <a:latin typeface="Cambria Math"/>
                <a:ea typeface="+mn-lt"/>
                <a:cs typeface="+mn-lt"/>
              </a:rPr>
              <a:t> during this period.</a:t>
            </a:r>
            <a:endParaRPr lang="en-US" dirty="0">
              <a:solidFill>
                <a:schemeClr val="accent6">
                  <a:lumMod val="49000"/>
                </a:schemeClr>
              </a:solidFill>
              <a:latin typeface="Cambria Math"/>
            </a:endParaRPr>
          </a:p>
        </p:txBody>
      </p:sp>
      <p:pic>
        <p:nvPicPr>
          <p:cNvPr id="8" name="Picture Placeholder 7" descr="A graph of upload and number of reaction&#10;&#10;AI-generated content may be incorrect.">
            <a:extLst>
              <a:ext uri="{FF2B5EF4-FFF2-40B4-BE49-F238E27FC236}">
                <a16:creationId xmlns:a16="http://schemas.microsoft.com/office/drawing/2014/main" id="{DA886965-2408-8F80-6779-A6B610B265A9}"/>
              </a:ext>
            </a:extLst>
          </p:cNvPr>
          <p:cNvPicPr>
            <a:picLocks noGrp="1" noChangeAspect="1"/>
          </p:cNvPicPr>
          <p:nvPr>
            <p:ph type="pic" sz="quarter" idx="14"/>
          </p:nvPr>
        </p:nvPicPr>
        <p:blipFill>
          <a:blip r:embed="rId2"/>
          <a:srcRect t="40" b="40"/>
          <a:stretch/>
        </p:blipFill>
        <p:spPr>
          <a:xfrm>
            <a:off x="0" y="579392"/>
            <a:ext cx="5121275" cy="4002617"/>
          </a:xfrm>
          <a:prstGeom prst="rect">
            <a:avLst/>
          </a:prstGeom>
          <a:ln>
            <a:noFill/>
          </a:ln>
          <a:effectLst>
            <a:outerShdw blurRad="292100" dist="139700" dir="2700000" algn="tl" rotWithShape="0">
              <a:srgbClr val="333333">
                <a:alpha val="0"/>
              </a:srgbClr>
            </a:outerShdw>
          </a:effectLst>
        </p:spPr>
      </p:pic>
    </p:spTree>
    <p:extLst>
      <p:ext uri="{BB962C8B-B14F-4D97-AF65-F5344CB8AC3E}">
        <p14:creationId xmlns:p14="http://schemas.microsoft.com/office/powerpoint/2010/main" val="623750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4B6C-8818-4377-3D5D-F85678E622F1}"/>
            </a:ext>
          </a:extLst>
        </p:cNvPr>
        <p:cNvGrpSpPr/>
        <p:nvPr/>
      </p:nvGrpSpPr>
      <p:grpSpPr>
        <a:xfrm>
          <a:off x="0" y="0"/>
          <a:ext cx="0" cy="0"/>
          <a:chOff x="0" y="0"/>
          <a:chExt cx="0" cy="0"/>
        </a:xfrm>
      </p:grpSpPr>
      <p:pic>
        <p:nvPicPr>
          <p:cNvPr id="9" name="Picture Placeholder 8" descr="A screenshot of a computer&#10;&#10;AI-generated content may be incorrect.">
            <a:extLst>
              <a:ext uri="{FF2B5EF4-FFF2-40B4-BE49-F238E27FC236}">
                <a16:creationId xmlns:a16="http://schemas.microsoft.com/office/drawing/2014/main" id="{96C4DD0C-A5AE-91DA-3394-F66374A516B0}"/>
              </a:ext>
            </a:extLst>
          </p:cNvPr>
          <p:cNvPicPr>
            <a:picLocks noGrp="1" noChangeAspect="1"/>
          </p:cNvPicPr>
          <p:nvPr>
            <p:ph type="pic" sz="quarter" idx="11"/>
          </p:nvPr>
        </p:nvPicPr>
        <p:blipFill>
          <a:blip r:embed="rId2"/>
          <a:srcRect t="815" b="815"/>
          <a:stretch/>
        </p:blipFill>
        <p:spPr>
          <a:xfrm>
            <a:off x="502920" y="1711864"/>
            <a:ext cx="7188200" cy="4578288"/>
          </a:xfrm>
        </p:spPr>
      </p:pic>
      <p:sp>
        <p:nvSpPr>
          <p:cNvPr id="3" name="Title 2">
            <a:extLst>
              <a:ext uri="{FF2B5EF4-FFF2-40B4-BE49-F238E27FC236}">
                <a16:creationId xmlns:a16="http://schemas.microsoft.com/office/drawing/2014/main" id="{C5196A10-E65F-497E-63FF-C2559A0ED937}"/>
              </a:ext>
            </a:extLst>
          </p:cNvPr>
          <p:cNvSpPr>
            <a:spLocks noGrp="1"/>
          </p:cNvSpPr>
          <p:nvPr>
            <p:ph type="title"/>
          </p:nvPr>
        </p:nvSpPr>
        <p:spPr>
          <a:xfrm>
            <a:off x="505968" y="831088"/>
            <a:ext cx="6931152" cy="557784"/>
          </a:xfrm>
        </p:spPr>
        <p:txBody>
          <a:bodyPr/>
          <a:lstStyle/>
          <a:p>
            <a:r>
              <a:rPr lang="en-US" sz="3200" dirty="0"/>
              <a:t>Question-2</a:t>
            </a:r>
          </a:p>
        </p:txBody>
      </p:sp>
      <p:sp>
        <p:nvSpPr>
          <p:cNvPr id="11" name="Rectangle 10">
            <a:extLst>
              <a:ext uri="{FF2B5EF4-FFF2-40B4-BE49-F238E27FC236}">
                <a16:creationId xmlns:a16="http://schemas.microsoft.com/office/drawing/2014/main" id="{6F3FB4C8-3035-72CE-1155-98B4069628E7}"/>
              </a:ext>
            </a:extLst>
          </p:cNvPr>
          <p:cNvSpPr/>
          <p:nvPr/>
        </p:nvSpPr>
        <p:spPr>
          <a:xfrm>
            <a:off x="3698875" y="3277235"/>
            <a:ext cx="8402320" cy="238760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35625922-AA94-7FC8-46D7-71FC0AE39DB8}"/>
              </a:ext>
            </a:extLst>
          </p:cNvPr>
          <p:cNvSpPr>
            <a:spLocks noGrp="1"/>
          </p:cNvSpPr>
          <p:nvPr>
            <p:ph type="body" sz="quarter" idx="10"/>
          </p:nvPr>
        </p:nvSpPr>
        <p:spPr>
          <a:xfrm>
            <a:off x="4366767" y="3425952"/>
            <a:ext cx="7530592" cy="4480560"/>
          </a:xfrm>
        </p:spPr>
        <p:txBody>
          <a:bodyPr vert="horz" lIns="0" tIns="0" rIns="0" bIns="0" rtlCol="0" anchor="t">
            <a:noAutofit/>
          </a:bodyPr>
          <a:lstStyle/>
          <a:p>
            <a:pPr algn="r">
              <a:lnSpc>
                <a:spcPct val="100000"/>
              </a:lnSpc>
            </a:pPr>
            <a:r>
              <a:rPr lang="en-US" sz="2800" dirty="0">
                <a:solidFill>
                  <a:schemeClr val="accent6">
                    <a:lumMod val="49000"/>
                  </a:schemeClr>
                </a:solidFill>
                <a:latin typeface="Californian FB"/>
                <a:ea typeface="+mn-lt"/>
                <a:cs typeface="+mn-lt"/>
              </a:rPr>
              <a:t>Is there a correlation between the number of reactions (num_reactions) and other engagement metrics such as comments (num_comments) and shares (num_shares)? If so, what is the strength and direction of this correlation?</a:t>
            </a:r>
            <a:endParaRPr lang="en-US">
              <a:solidFill>
                <a:schemeClr val="accent6">
                  <a:lumMod val="49000"/>
                </a:schemeClr>
              </a:solidFill>
            </a:endParaRPr>
          </a:p>
          <a:p>
            <a:pPr algn="r">
              <a:lnSpc>
                <a:spcPct val="100000"/>
              </a:lnSpc>
            </a:pPr>
            <a:endParaRPr lang="en-US" sz="3600" dirty="0">
              <a:solidFill>
                <a:schemeClr val="accent6">
                  <a:lumMod val="49000"/>
                </a:schemeClr>
              </a:solidFill>
              <a:latin typeface="Californian FB"/>
            </a:endParaRPr>
          </a:p>
          <a:p>
            <a:endParaRPr lang="en-US" dirty="0">
              <a:solidFill>
                <a:schemeClr val="accent6">
                  <a:lumMod val="49000"/>
                </a:schemeClr>
              </a:solidFill>
            </a:endParaRPr>
          </a:p>
        </p:txBody>
      </p:sp>
    </p:spTree>
    <p:extLst>
      <p:ext uri="{BB962C8B-B14F-4D97-AF65-F5344CB8AC3E}">
        <p14:creationId xmlns:p14="http://schemas.microsoft.com/office/powerpoint/2010/main" val="626882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6EE7D-DADE-0766-C93B-618DF186DC0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30C9CCF-E7E1-CA67-900D-2C1CAE240C1C}"/>
              </a:ext>
            </a:extLst>
          </p:cNvPr>
          <p:cNvSpPr/>
          <p:nvPr/>
        </p:nvSpPr>
        <p:spPr>
          <a:xfrm>
            <a:off x="0" y="297543"/>
            <a:ext cx="6097485" cy="656121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b="1" dirty="0">
              <a:solidFill>
                <a:schemeClr val="lt1"/>
              </a:solidFill>
            </a:endParaRPr>
          </a:p>
        </p:txBody>
      </p:sp>
      <p:sp>
        <p:nvSpPr>
          <p:cNvPr id="173" name="Rectangle 172">
            <a:extLst>
              <a:ext uri="{FF2B5EF4-FFF2-40B4-BE49-F238E27FC236}">
                <a16:creationId xmlns:a16="http://schemas.microsoft.com/office/drawing/2014/main" id="{9DE64C5B-8001-E96D-F185-1ADB19AB90A8}"/>
              </a:ext>
            </a:extLst>
          </p:cNvPr>
          <p:cNvSpPr/>
          <p:nvPr/>
        </p:nvSpPr>
        <p:spPr>
          <a:xfrm>
            <a:off x="4114801" y="294217"/>
            <a:ext cx="1983315" cy="4781972"/>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BAFAC430-C213-1DD0-B12E-F8E299CAECF7}"/>
              </a:ext>
            </a:extLst>
          </p:cNvPr>
          <p:cNvSpPr>
            <a:spLocks noGrp="1"/>
          </p:cNvSpPr>
          <p:nvPr>
            <p:ph type="title"/>
          </p:nvPr>
        </p:nvSpPr>
        <p:spPr>
          <a:xfrm>
            <a:off x="6454939" y="297688"/>
            <a:ext cx="5255768" cy="557784"/>
          </a:xfrm>
        </p:spPr>
        <p:txBody>
          <a:bodyPr/>
          <a:lstStyle/>
          <a:p>
            <a:pPr>
              <a:lnSpc>
                <a:spcPct val="100000"/>
              </a:lnSpc>
            </a:pPr>
            <a:r>
              <a:rPr lang="en-US" sz="1800" dirty="0">
                <a:latin typeface="Century"/>
              </a:rPr>
              <a:t>APPROACH:</a:t>
            </a:r>
            <a:endParaRPr lang="en-US" sz="1800"/>
          </a:p>
        </p:txBody>
      </p:sp>
      <p:sp>
        <p:nvSpPr>
          <p:cNvPr id="5" name="Slide Number Placeholder 4">
            <a:extLst>
              <a:ext uri="{FF2B5EF4-FFF2-40B4-BE49-F238E27FC236}">
                <a16:creationId xmlns:a16="http://schemas.microsoft.com/office/drawing/2014/main" id="{B79255DC-0035-7153-478E-06288B5D4F52}"/>
              </a:ext>
            </a:extLst>
          </p:cNvPr>
          <p:cNvSpPr>
            <a:spLocks noGrp="1"/>
          </p:cNvSpPr>
          <p:nvPr>
            <p:ph type="sldNum" sz="quarter" idx="11"/>
          </p:nvPr>
        </p:nvSpPr>
        <p:spPr/>
        <p:txBody>
          <a:bodyPr/>
          <a:lstStyle/>
          <a:p>
            <a:fld id="{B67B645E-C5E5-4727-B977-D372A0AA71D9}" type="slidenum">
              <a:rPr lang="en-US" smtClean="0"/>
              <a:pPr/>
              <a:t>6</a:t>
            </a:fld>
            <a:endParaRPr lang="en-US" dirty="0"/>
          </a:p>
        </p:txBody>
      </p:sp>
      <p:sp>
        <p:nvSpPr>
          <p:cNvPr id="10" name="Content Placeholder 9">
            <a:extLst>
              <a:ext uri="{FF2B5EF4-FFF2-40B4-BE49-F238E27FC236}">
                <a16:creationId xmlns:a16="http://schemas.microsoft.com/office/drawing/2014/main" id="{E1D6222E-2B4D-3DA1-9F06-36B3A9BBA87D}"/>
              </a:ext>
            </a:extLst>
          </p:cNvPr>
          <p:cNvSpPr>
            <a:spLocks noGrp="1"/>
          </p:cNvSpPr>
          <p:nvPr>
            <p:ph sz="quarter" idx="13"/>
          </p:nvPr>
        </p:nvSpPr>
        <p:spPr>
          <a:xfrm>
            <a:off x="6450582" y="678065"/>
            <a:ext cx="5387123" cy="2238981"/>
          </a:xfrm>
        </p:spPr>
        <p:txBody>
          <a:bodyPr vert="horz" lIns="0" tIns="0" rIns="0" bIns="0" rtlCol="0" anchor="t">
            <a:normAutofit lnSpcReduction="10000"/>
          </a:bodyPr>
          <a:lstStyle/>
          <a:p>
            <a:pPr marL="347345" indent="-347345" algn="just">
              <a:lnSpc>
                <a:spcPct val="100000"/>
              </a:lnSpc>
              <a:spcAft>
                <a:spcPts val="1400"/>
              </a:spcAft>
            </a:pPr>
            <a:r>
              <a:rPr lang="en-US" sz="1800" dirty="0">
                <a:solidFill>
                  <a:schemeClr val="accent6">
                    <a:lumMod val="49000"/>
                  </a:schemeClr>
                </a:solidFill>
                <a:latin typeface="Cambria Math"/>
                <a:ea typeface="Cambria Math"/>
              </a:rPr>
              <a:t>To check the presence of any NaN (not a number) values.</a:t>
            </a:r>
            <a:endParaRPr lang="en-US" dirty="0">
              <a:solidFill>
                <a:schemeClr val="accent6">
                  <a:lumMod val="49000"/>
                </a:schemeClr>
              </a:solidFill>
              <a:latin typeface="Aptos Light"/>
              <a:ea typeface="Cambria Math"/>
            </a:endParaRPr>
          </a:p>
          <a:p>
            <a:pPr marL="347345" indent="-347345" algn="just">
              <a:lnSpc>
                <a:spcPct val="100000"/>
              </a:lnSpc>
              <a:spcAft>
                <a:spcPts val="1400"/>
              </a:spcAft>
            </a:pPr>
            <a:r>
              <a:rPr lang="en-US" sz="1800" dirty="0">
                <a:solidFill>
                  <a:schemeClr val="accent6">
                    <a:lumMod val="49000"/>
                  </a:schemeClr>
                </a:solidFill>
                <a:latin typeface="Cambria Math"/>
                <a:ea typeface="Cambria Math"/>
              </a:rPr>
              <a:t>Started with plotting a scatter plot to visualize the data, but the density of points formed a cluster which was difficult to interpret.</a:t>
            </a:r>
            <a:endParaRPr lang="en-US" dirty="0">
              <a:solidFill>
                <a:schemeClr val="accent6">
                  <a:lumMod val="49000"/>
                </a:schemeClr>
              </a:solidFill>
              <a:latin typeface="Aptos Light"/>
              <a:ea typeface="Cambria Math"/>
            </a:endParaRPr>
          </a:p>
          <a:p>
            <a:pPr marL="347345" indent="-347345" algn="just">
              <a:lnSpc>
                <a:spcPct val="100000"/>
              </a:lnSpc>
              <a:spcAft>
                <a:spcPts val="1400"/>
              </a:spcAft>
            </a:pPr>
            <a:r>
              <a:rPr lang="en-US" sz="1800" dirty="0">
                <a:solidFill>
                  <a:schemeClr val="accent6">
                    <a:lumMod val="49000"/>
                  </a:schemeClr>
                </a:solidFill>
                <a:latin typeface="Cambria Math"/>
                <a:ea typeface="Cambria Math"/>
              </a:rPr>
              <a:t>Created a correlation matrix to analyze the data and visualized it by plotting a heatmap.</a:t>
            </a:r>
          </a:p>
        </p:txBody>
      </p:sp>
      <p:sp>
        <p:nvSpPr>
          <p:cNvPr id="12" name="TextBox 11">
            <a:extLst>
              <a:ext uri="{FF2B5EF4-FFF2-40B4-BE49-F238E27FC236}">
                <a16:creationId xmlns:a16="http://schemas.microsoft.com/office/drawing/2014/main" id="{9F42E763-48C7-E36C-4D94-6D36520023F9}"/>
              </a:ext>
            </a:extLst>
          </p:cNvPr>
          <p:cNvSpPr txBox="1"/>
          <p:nvPr/>
        </p:nvSpPr>
        <p:spPr>
          <a:xfrm>
            <a:off x="4233" y="473286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cap="all" dirty="0">
                <a:solidFill>
                  <a:srgbClr val="262626"/>
                </a:solidFill>
                <a:latin typeface="Century"/>
              </a:rPr>
              <a:t>INTERPRETATION:</a:t>
            </a:r>
            <a:endParaRPr lang="en-US" dirty="0"/>
          </a:p>
        </p:txBody>
      </p:sp>
      <p:sp>
        <p:nvSpPr>
          <p:cNvPr id="13" name="TextBox 12">
            <a:extLst>
              <a:ext uri="{FF2B5EF4-FFF2-40B4-BE49-F238E27FC236}">
                <a16:creationId xmlns:a16="http://schemas.microsoft.com/office/drawing/2014/main" id="{7011B8CD-DABB-9860-3EF3-4005428F3A51}"/>
              </a:ext>
            </a:extLst>
          </p:cNvPr>
          <p:cNvSpPr txBox="1"/>
          <p:nvPr/>
        </p:nvSpPr>
        <p:spPr>
          <a:xfrm>
            <a:off x="4234" y="5084233"/>
            <a:ext cx="587586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rgbClr val="0A4B9D"/>
                </a:solidFill>
                <a:latin typeface="Cambria Math"/>
                <a:ea typeface="Cambria Math"/>
                <a:cs typeface="Arial"/>
              </a:rPr>
              <a:t>A correlation matrix checks the extent of linear proportionality among variables. The above matrix depicts that number of reaction and number of comments as well as number of shares are positively correlated, but the magnitude of correlation is less than 0.3 which represents weak correlation.</a:t>
            </a:r>
          </a:p>
        </p:txBody>
      </p:sp>
      <p:sp>
        <p:nvSpPr>
          <p:cNvPr id="16" name="Rectangle 15">
            <a:extLst>
              <a:ext uri="{FF2B5EF4-FFF2-40B4-BE49-F238E27FC236}">
                <a16:creationId xmlns:a16="http://schemas.microsoft.com/office/drawing/2014/main" id="{580C8532-8758-78FE-0F58-933D20433242}"/>
              </a:ext>
            </a:extLst>
          </p:cNvPr>
          <p:cNvSpPr/>
          <p:nvPr/>
        </p:nvSpPr>
        <p:spPr>
          <a:xfrm>
            <a:off x="9641841" y="4337897"/>
            <a:ext cx="2582755" cy="1002452"/>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4" name="TextBox 13">
            <a:extLst>
              <a:ext uri="{FF2B5EF4-FFF2-40B4-BE49-F238E27FC236}">
                <a16:creationId xmlns:a16="http://schemas.microsoft.com/office/drawing/2014/main" id="{E695B63A-0128-FA8C-C5DA-07C9CD07B33D}"/>
              </a:ext>
            </a:extLst>
          </p:cNvPr>
          <p:cNvSpPr txBox="1"/>
          <p:nvPr/>
        </p:nvSpPr>
        <p:spPr>
          <a:xfrm>
            <a:off x="6343226" y="276521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dirty="0">
                <a:solidFill>
                  <a:srgbClr val="262626"/>
                </a:solidFill>
                <a:latin typeface="Century"/>
              </a:rPr>
              <a:t>CONCLUSION:</a:t>
            </a:r>
            <a:endParaRPr lang="en-US"/>
          </a:p>
        </p:txBody>
      </p:sp>
      <p:sp>
        <p:nvSpPr>
          <p:cNvPr id="15" name="TextBox 14">
            <a:extLst>
              <a:ext uri="{FF2B5EF4-FFF2-40B4-BE49-F238E27FC236}">
                <a16:creationId xmlns:a16="http://schemas.microsoft.com/office/drawing/2014/main" id="{E95454B1-2795-DA35-F2A1-FA40F96E3B86}"/>
              </a:ext>
            </a:extLst>
          </p:cNvPr>
          <p:cNvSpPr txBox="1"/>
          <p:nvPr/>
        </p:nvSpPr>
        <p:spPr>
          <a:xfrm>
            <a:off x="6333067" y="3136053"/>
            <a:ext cx="561128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accent6">
                    <a:lumMod val="49000"/>
                  </a:schemeClr>
                </a:solidFill>
                <a:latin typeface="Cambria Math"/>
                <a:ea typeface="+mn-lt"/>
                <a:cs typeface="+mn-lt"/>
              </a:rPr>
              <a:t>There is </a:t>
            </a:r>
            <a:r>
              <a:rPr lang="en-US" b="1" dirty="0">
                <a:solidFill>
                  <a:schemeClr val="accent6">
                    <a:lumMod val="49000"/>
                  </a:schemeClr>
                </a:solidFill>
                <a:latin typeface="Cambria Math"/>
                <a:ea typeface="+mn-lt"/>
                <a:cs typeface="+mn-lt"/>
              </a:rPr>
              <a:t>minimal correlation</a:t>
            </a:r>
            <a:r>
              <a:rPr lang="en-US" dirty="0">
                <a:solidFill>
                  <a:schemeClr val="accent6">
                    <a:lumMod val="49000"/>
                  </a:schemeClr>
                </a:solidFill>
                <a:latin typeface="Cambria Math"/>
                <a:ea typeface="+mn-lt"/>
                <a:cs typeface="+mn-lt"/>
              </a:rPr>
              <a:t> between the </a:t>
            </a:r>
            <a:r>
              <a:rPr lang="en-US" b="1" dirty="0">
                <a:solidFill>
                  <a:schemeClr val="accent6">
                    <a:lumMod val="49000"/>
                  </a:schemeClr>
                </a:solidFill>
                <a:latin typeface="Cambria Math"/>
                <a:ea typeface="+mn-lt"/>
                <a:cs typeface="+mn-lt"/>
              </a:rPr>
              <a:t>number of reactions and number of comments</a:t>
            </a:r>
            <a:r>
              <a:rPr lang="en-US" dirty="0">
                <a:solidFill>
                  <a:schemeClr val="accent6">
                    <a:lumMod val="49000"/>
                  </a:schemeClr>
                </a:solidFill>
                <a:latin typeface="Cambria Math"/>
                <a:ea typeface="+mn-lt"/>
                <a:cs typeface="+mn-lt"/>
              </a:rPr>
              <a:t> (0.15), as well as between </a:t>
            </a:r>
            <a:r>
              <a:rPr lang="en-US" b="1" dirty="0">
                <a:solidFill>
                  <a:schemeClr val="accent6">
                    <a:lumMod val="49000"/>
                  </a:schemeClr>
                </a:solidFill>
                <a:latin typeface="Cambria Math"/>
                <a:ea typeface="+mn-lt"/>
                <a:cs typeface="+mn-lt"/>
              </a:rPr>
              <a:t>number of reactions and number of shares</a:t>
            </a:r>
            <a:r>
              <a:rPr lang="en-US" dirty="0">
                <a:solidFill>
                  <a:schemeClr val="accent6">
                    <a:lumMod val="49000"/>
                  </a:schemeClr>
                </a:solidFill>
                <a:latin typeface="Cambria Math"/>
                <a:ea typeface="+mn-lt"/>
                <a:cs typeface="+mn-lt"/>
              </a:rPr>
              <a:t> (0.25). Although the correlations are </a:t>
            </a:r>
            <a:r>
              <a:rPr lang="en-US" b="1" dirty="0">
                <a:solidFill>
                  <a:schemeClr val="accent6">
                    <a:lumMod val="49000"/>
                  </a:schemeClr>
                </a:solidFill>
                <a:latin typeface="Cambria Math"/>
                <a:ea typeface="+mn-lt"/>
                <a:cs typeface="+mn-lt"/>
              </a:rPr>
              <a:t>positive</a:t>
            </a:r>
            <a:r>
              <a:rPr lang="en-US" dirty="0">
                <a:solidFill>
                  <a:schemeClr val="accent6">
                    <a:lumMod val="49000"/>
                  </a:schemeClr>
                </a:solidFill>
                <a:latin typeface="Cambria Math"/>
                <a:ea typeface="+mn-lt"/>
                <a:cs typeface="+mn-lt"/>
              </a:rPr>
              <a:t>—</a:t>
            </a:r>
            <a:endParaRPr lang="en-US" dirty="0">
              <a:solidFill>
                <a:schemeClr val="accent6">
                  <a:lumMod val="49000"/>
                </a:schemeClr>
              </a:solidFill>
            </a:endParaRPr>
          </a:p>
        </p:txBody>
      </p:sp>
      <p:pic>
        <p:nvPicPr>
          <p:cNvPr id="8" name="Picture Placeholder 7" descr="A screenshot of a blue grid&#10;&#10;AI-generated content may be incorrect.">
            <a:extLst>
              <a:ext uri="{FF2B5EF4-FFF2-40B4-BE49-F238E27FC236}">
                <a16:creationId xmlns:a16="http://schemas.microsoft.com/office/drawing/2014/main" id="{2325FF07-24EC-855B-FB32-9733A85E70B2}"/>
              </a:ext>
            </a:extLst>
          </p:cNvPr>
          <p:cNvPicPr>
            <a:picLocks noGrp="1" noChangeAspect="1"/>
          </p:cNvPicPr>
          <p:nvPr>
            <p:ph type="pic" sz="quarter" idx="14"/>
          </p:nvPr>
        </p:nvPicPr>
        <p:blipFill>
          <a:blip r:embed="rId2"/>
          <a:srcRect t="1481" r="198" b="741"/>
          <a:stretch>
            <a:fillRect/>
          </a:stretch>
        </p:blipFill>
        <p:spPr>
          <a:xfrm>
            <a:off x="2543690" y="2022112"/>
            <a:ext cx="3150244" cy="2594982"/>
          </a:xfrm>
          <a:prstGeom prst="rect">
            <a:avLst/>
          </a:prstGeom>
          <a:ln>
            <a:noFill/>
          </a:ln>
          <a:effectLst>
            <a:outerShdw blurRad="292100" dist="139700" dir="2700000" algn="tl" rotWithShape="0">
              <a:srgbClr val="333333">
                <a:alpha val="0"/>
              </a:srgbClr>
            </a:outerShdw>
          </a:effectLst>
        </p:spPr>
      </p:pic>
      <p:pic>
        <p:nvPicPr>
          <p:cNvPr id="4" name="Picture 3" descr="A graph with blue dots&#10;&#10;AI-generated content may be incorrect.">
            <a:extLst>
              <a:ext uri="{FF2B5EF4-FFF2-40B4-BE49-F238E27FC236}">
                <a16:creationId xmlns:a16="http://schemas.microsoft.com/office/drawing/2014/main" id="{DA63B8E7-A1C7-75C7-7CDC-19A486895C0F}"/>
              </a:ext>
            </a:extLst>
          </p:cNvPr>
          <p:cNvPicPr>
            <a:picLocks noChangeAspect="1"/>
          </p:cNvPicPr>
          <p:nvPr/>
        </p:nvPicPr>
        <p:blipFill>
          <a:blip r:embed="rId3"/>
          <a:stretch>
            <a:fillRect/>
          </a:stretch>
        </p:blipFill>
        <p:spPr>
          <a:xfrm>
            <a:off x="-2540" y="1860233"/>
            <a:ext cx="1813560" cy="1420495"/>
          </a:xfrm>
          <a:prstGeom prst="rect">
            <a:avLst/>
          </a:prstGeom>
        </p:spPr>
      </p:pic>
      <p:pic>
        <p:nvPicPr>
          <p:cNvPr id="6" name="Picture 5" descr="A graph with blue dots&#10;&#10;AI-generated content may be incorrect.">
            <a:extLst>
              <a:ext uri="{FF2B5EF4-FFF2-40B4-BE49-F238E27FC236}">
                <a16:creationId xmlns:a16="http://schemas.microsoft.com/office/drawing/2014/main" id="{231C574C-212D-EAB8-1C30-602C92BE4DE7}"/>
              </a:ext>
            </a:extLst>
          </p:cNvPr>
          <p:cNvPicPr>
            <a:picLocks noChangeAspect="1"/>
          </p:cNvPicPr>
          <p:nvPr/>
        </p:nvPicPr>
        <p:blipFill>
          <a:blip r:embed="rId4"/>
          <a:stretch>
            <a:fillRect/>
          </a:stretch>
        </p:blipFill>
        <p:spPr>
          <a:xfrm>
            <a:off x="317" y="3312478"/>
            <a:ext cx="1818005" cy="1370965"/>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36F16D69-BC96-3B6E-F72B-A7A92D905BAF}"/>
              </a:ext>
            </a:extLst>
          </p:cNvPr>
          <p:cNvPicPr>
            <a:picLocks noChangeAspect="1"/>
          </p:cNvPicPr>
          <p:nvPr/>
        </p:nvPicPr>
        <p:blipFill>
          <a:blip r:embed="rId5"/>
          <a:stretch>
            <a:fillRect/>
          </a:stretch>
        </p:blipFill>
        <p:spPr>
          <a:xfrm>
            <a:off x="432435" y="527367"/>
            <a:ext cx="5657850" cy="1190625"/>
          </a:xfrm>
          <a:prstGeom prst="rect">
            <a:avLst/>
          </a:prstGeom>
        </p:spPr>
      </p:pic>
      <p:graphicFrame>
        <p:nvGraphicFramePr>
          <p:cNvPr id="17" name="Diagram 16">
            <a:extLst>
              <a:ext uri="{FF2B5EF4-FFF2-40B4-BE49-F238E27FC236}">
                <a16:creationId xmlns:a16="http://schemas.microsoft.com/office/drawing/2014/main" id="{4E02FC10-396C-892F-C44A-547F2EBDEB5F}"/>
              </a:ext>
            </a:extLst>
          </p:cNvPr>
          <p:cNvGraphicFramePr/>
          <p:nvPr>
            <p:extLst>
              <p:ext uri="{D42A27DB-BD31-4B8C-83A1-F6EECF244321}">
                <p14:modId xmlns:p14="http://schemas.microsoft.com/office/powerpoint/2010/main" val="506643153"/>
              </p:ext>
            </p:extLst>
          </p:nvPr>
        </p:nvGraphicFramePr>
        <p:xfrm>
          <a:off x="9956800" y="4353560"/>
          <a:ext cx="1920240" cy="97536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68" name="TextBox 167">
            <a:extLst>
              <a:ext uri="{FF2B5EF4-FFF2-40B4-BE49-F238E27FC236}">
                <a16:creationId xmlns:a16="http://schemas.microsoft.com/office/drawing/2014/main" id="{9D3C824D-228D-9BCD-B784-0AE9F1BA205A}"/>
              </a:ext>
            </a:extLst>
          </p:cNvPr>
          <p:cNvSpPr txBox="1"/>
          <p:nvPr/>
        </p:nvSpPr>
        <p:spPr>
          <a:xfrm>
            <a:off x="11875611" y="4679473"/>
            <a:ext cx="3454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solidFill>
                  <a:schemeClr val="bg1"/>
                </a:solidFill>
              </a:rPr>
              <a:t>1</a:t>
            </a:r>
          </a:p>
        </p:txBody>
      </p:sp>
      <p:sp>
        <p:nvSpPr>
          <p:cNvPr id="169" name="TextBox 168">
            <a:extLst>
              <a:ext uri="{FF2B5EF4-FFF2-40B4-BE49-F238E27FC236}">
                <a16:creationId xmlns:a16="http://schemas.microsoft.com/office/drawing/2014/main" id="{051C6215-DCB4-C898-8B0A-DCCA1A3F62EE}"/>
              </a:ext>
            </a:extLst>
          </p:cNvPr>
          <p:cNvSpPr txBox="1"/>
          <p:nvPr/>
        </p:nvSpPr>
        <p:spPr>
          <a:xfrm>
            <a:off x="9682480" y="4653280"/>
            <a:ext cx="5384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rPr>
              <a:t>-1</a:t>
            </a:r>
            <a:endParaRPr lang="en-US" dirty="0">
              <a:solidFill>
                <a:schemeClr val="bg1"/>
              </a:solidFill>
            </a:endParaRPr>
          </a:p>
        </p:txBody>
      </p:sp>
      <p:sp>
        <p:nvSpPr>
          <p:cNvPr id="20" name="TextBox 19">
            <a:extLst>
              <a:ext uri="{FF2B5EF4-FFF2-40B4-BE49-F238E27FC236}">
                <a16:creationId xmlns:a16="http://schemas.microsoft.com/office/drawing/2014/main" id="{490E8597-1CD4-7925-6550-53183EDBA86A}"/>
              </a:ext>
            </a:extLst>
          </p:cNvPr>
          <p:cNvSpPr txBox="1"/>
          <p:nvPr/>
        </p:nvSpPr>
        <p:spPr>
          <a:xfrm>
            <a:off x="6329680" y="4246880"/>
            <a:ext cx="331216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accent6">
                    <a:lumMod val="49000"/>
                  </a:schemeClr>
                </a:solidFill>
                <a:latin typeface="Cambria Math"/>
                <a:ea typeface="Cambria Math"/>
              </a:rPr>
              <a:t>Indicating that as reactions increase, comments and shares tend to increase as well—the </a:t>
            </a:r>
            <a:r>
              <a:rPr lang="en-US" b="1" dirty="0">
                <a:solidFill>
                  <a:schemeClr val="accent6">
                    <a:lumMod val="49000"/>
                  </a:schemeClr>
                </a:solidFill>
                <a:latin typeface="Cambria Math"/>
                <a:ea typeface="Cambria Math"/>
              </a:rPr>
              <a:t>strength</a:t>
            </a:r>
            <a:r>
              <a:rPr lang="en-US" dirty="0">
                <a:solidFill>
                  <a:schemeClr val="accent6">
                    <a:lumMod val="49000"/>
                  </a:schemeClr>
                </a:solidFill>
                <a:latin typeface="Cambria Math"/>
                <a:ea typeface="Cambria Math"/>
              </a:rPr>
              <a:t> of these relationships </a:t>
            </a:r>
          </a:p>
          <a:p>
            <a:pPr algn="just"/>
            <a:endParaRPr lang="en-US" dirty="0">
              <a:solidFill>
                <a:srgbClr val="0A4B9D"/>
              </a:solidFill>
              <a:latin typeface="Cambria Math"/>
              <a:ea typeface="Cambria Math"/>
            </a:endParaRPr>
          </a:p>
        </p:txBody>
      </p:sp>
      <p:sp>
        <p:nvSpPr>
          <p:cNvPr id="21" name="TextBox 20">
            <a:extLst>
              <a:ext uri="{FF2B5EF4-FFF2-40B4-BE49-F238E27FC236}">
                <a16:creationId xmlns:a16="http://schemas.microsoft.com/office/drawing/2014/main" id="{A64CD263-23F8-6361-08C2-A2570CB7581E}"/>
              </a:ext>
            </a:extLst>
          </p:cNvPr>
          <p:cNvSpPr txBox="1"/>
          <p:nvPr/>
        </p:nvSpPr>
        <p:spPr>
          <a:xfrm>
            <a:off x="6329680" y="5364480"/>
            <a:ext cx="561848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accent6">
                    <a:lumMod val="49000"/>
                  </a:schemeClr>
                </a:solidFill>
                <a:latin typeface="Cambria Math"/>
                <a:ea typeface="Cambria Math"/>
              </a:rPr>
              <a:t>is </a:t>
            </a:r>
            <a:r>
              <a:rPr lang="en-US" b="1" dirty="0">
                <a:solidFill>
                  <a:schemeClr val="accent6">
                    <a:lumMod val="49000"/>
                  </a:schemeClr>
                </a:solidFill>
                <a:latin typeface="Cambria Math"/>
                <a:ea typeface="Cambria Math"/>
              </a:rPr>
              <a:t>very weak</a:t>
            </a:r>
            <a:r>
              <a:rPr lang="en-US" dirty="0">
                <a:solidFill>
                  <a:schemeClr val="accent6">
                    <a:lumMod val="49000"/>
                  </a:schemeClr>
                </a:solidFill>
                <a:latin typeface="Cambria Math"/>
                <a:ea typeface="Cambria Math"/>
              </a:rPr>
              <a:t>. </a:t>
            </a:r>
            <a:r>
              <a:rPr lang="en-US" dirty="0">
                <a:solidFill>
                  <a:schemeClr val="accent6">
                    <a:lumMod val="49000"/>
                  </a:schemeClr>
                </a:solidFill>
                <a:latin typeface="Cambria Math"/>
                <a:ea typeface="+mn-lt"/>
                <a:cs typeface="+mn-lt"/>
              </a:rPr>
              <a:t>In contrast, the </a:t>
            </a:r>
            <a:r>
              <a:rPr lang="en-US" b="1" dirty="0">
                <a:solidFill>
                  <a:schemeClr val="accent6">
                    <a:lumMod val="49000"/>
                  </a:schemeClr>
                </a:solidFill>
                <a:latin typeface="Cambria Math"/>
                <a:ea typeface="+mn-lt"/>
                <a:cs typeface="+mn-lt"/>
              </a:rPr>
              <a:t>correlation between number of comments and number of shares is relatively strong</a:t>
            </a:r>
            <a:r>
              <a:rPr lang="en-US" dirty="0">
                <a:solidFill>
                  <a:schemeClr val="accent6">
                    <a:lumMod val="49000"/>
                  </a:schemeClr>
                </a:solidFill>
                <a:latin typeface="Cambria Math"/>
                <a:ea typeface="+mn-lt"/>
                <a:cs typeface="+mn-lt"/>
              </a:rPr>
              <a:t>, suggesting the presence of a </a:t>
            </a:r>
            <a:r>
              <a:rPr lang="en-US" b="1" dirty="0">
                <a:solidFill>
                  <a:schemeClr val="accent6">
                    <a:lumMod val="49000"/>
                  </a:schemeClr>
                </a:solidFill>
                <a:latin typeface="Cambria Math"/>
                <a:ea typeface="+mn-lt"/>
                <a:cs typeface="+mn-lt"/>
              </a:rPr>
              <a:t>specific audience segment</a:t>
            </a:r>
            <a:r>
              <a:rPr lang="en-US" dirty="0">
                <a:solidFill>
                  <a:schemeClr val="accent6">
                    <a:lumMod val="49000"/>
                  </a:schemeClr>
                </a:solidFill>
                <a:latin typeface="Cambria Math"/>
                <a:ea typeface="+mn-lt"/>
                <a:cs typeface="+mn-lt"/>
              </a:rPr>
              <a:t> that tends to both </a:t>
            </a:r>
            <a:r>
              <a:rPr lang="en-US" b="1" dirty="0">
                <a:solidFill>
                  <a:schemeClr val="accent6">
                    <a:lumMod val="49000"/>
                  </a:schemeClr>
                </a:solidFill>
                <a:latin typeface="Cambria Math"/>
                <a:ea typeface="+mn-lt"/>
                <a:cs typeface="+mn-lt"/>
              </a:rPr>
              <a:t>comment on and share</a:t>
            </a:r>
            <a:r>
              <a:rPr lang="en-US" dirty="0">
                <a:solidFill>
                  <a:schemeClr val="accent6">
                    <a:lumMod val="49000"/>
                  </a:schemeClr>
                </a:solidFill>
                <a:latin typeface="Cambria Math"/>
                <a:ea typeface="+mn-lt"/>
                <a:cs typeface="+mn-lt"/>
              </a:rPr>
              <a:t> posts actively.</a:t>
            </a:r>
            <a:endParaRPr lang="en-US" dirty="0">
              <a:solidFill>
                <a:schemeClr val="accent6">
                  <a:lumMod val="49000"/>
                </a:schemeClr>
              </a:solidFill>
              <a:latin typeface="Cambria Math"/>
              <a:ea typeface="Cambria Math"/>
            </a:endParaRPr>
          </a:p>
        </p:txBody>
      </p:sp>
    </p:spTree>
    <p:extLst>
      <p:ext uri="{BB962C8B-B14F-4D97-AF65-F5344CB8AC3E}">
        <p14:creationId xmlns:p14="http://schemas.microsoft.com/office/powerpoint/2010/main" val="2300951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BB71B-2430-5B13-3BC1-30686AA61E74}"/>
            </a:ext>
          </a:extLst>
        </p:cNvPr>
        <p:cNvGrpSpPr/>
        <p:nvPr/>
      </p:nvGrpSpPr>
      <p:grpSpPr>
        <a:xfrm>
          <a:off x="0" y="0"/>
          <a:ext cx="0" cy="0"/>
          <a:chOff x="0" y="0"/>
          <a:chExt cx="0" cy="0"/>
        </a:xfrm>
      </p:grpSpPr>
      <p:pic>
        <p:nvPicPr>
          <p:cNvPr id="9" name="Picture Placeholder 8" descr="A screen shot of a computer program&#10;&#10;AI-generated content may be incorrect.">
            <a:extLst>
              <a:ext uri="{FF2B5EF4-FFF2-40B4-BE49-F238E27FC236}">
                <a16:creationId xmlns:a16="http://schemas.microsoft.com/office/drawing/2014/main" id="{F80BC80E-2E4C-65B7-725F-BAC936E5C824}"/>
              </a:ext>
            </a:extLst>
          </p:cNvPr>
          <p:cNvPicPr>
            <a:picLocks noGrp="1" noChangeAspect="1"/>
          </p:cNvPicPr>
          <p:nvPr>
            <p:ph type="pic" sz="quarter" idx="11"/>
          </p:nvPr>
        </p:nvPicPr>
        <p:blipFill>
          <a:blip r:embed="rId2"/>
          <a:srcRect l="5609" r="5609"/>
          <a:stretch/>
        </p:blipFill>
        <p:spPr>
          <a:xfrm>
            <a:off x="502920" y="1711864"/>
            <a:ext cx="7188200" cy="4578288"/>
          </a:xfrm>
        </p:spPr>
      </p:pic>
      <p:sp>
        <p:nvSpPr>
          <p:cNvPr id="3" name="Title 2">
            <a:extLst>
              <a:ext uri="{FF2B5EF4-FFF2-40B4-BE49-F238E27FC236}">
                <a16:creationId xmlns:a16="http://schemas.microsoft.com/office/drawing/2014/main" id="{690865FB-4284-F306-AB42-F7FE8D19DFD4}"/>
              </a:ext>
            </a:extLst>
          </p:cNvPr>
          <p:cNvSpPr>
            <a:spLocks noGrp="1"/>
          </p:cNvSpPr>
          <p:nvPr>
            <p:ph type="title"/>
          </p:nvPr>
        </p:nvSpPr>
        <p:spPr>
          <a:xfrm>
            <a:off x="505968" y="831088"/>
            <a:ext cx="6931152" cy="557784"/>
          </a:xfrm>
        </p:spPr>
        <p:txBody>
          <a:bodyPr/>
          <a:lstStyle/>
          <a:p>
            <a:r>
              <a:rPr lang="en-US" sz="3200" dirty="0"/>
              <a:t>Question-3&amp;4</a:t>
            </a:r>
          </a:p>
        </p:txBody>
      </p:sp>
      <p:sp>
        <p:nvSpPr>
          <p:cNvPr id="11" name="Rectangle 10">
            <a:extLst>
              <a:ext uri="{FF2B5EF4-FFF2-40B4-BE49-F238E27FC236}">
                <a16:creationId xmlns:a16="http://schemas.microsoft.com/office/drawing/2014/main" id="{E258615A-818B-A606-0819-2803FAB50DDE}"/>
              </a:ext>
            </a:extLst>
          </p:cNvPr>
          <p:cNvSpPr/>
          <p:nvPr/>
        </p:nvSpPr>
        <p:spPr>
          <a:xfrm>
            <a:off x="4481195" y="828675"/>
            <a:ext cx="7620000" cy="238760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569E1B01-4E75-5CFF-6F5F-ECC6C93C6C94}"/>
              </a:ext>
            </a:extLst>
          </p:cNvPr>
          <p:cNvSpPr>
            <a:spLocks noGrp="1"/>
          </p:cNvSpPr>
          <p:nvPr>
            <p:ph type="body" sz="quarter" idx="10"/>
          </p:nvPr>
        </p:nvSpPr>
        <p:spPr>
          <a:xfrm>
            <a:off x="4661407" y="987552"/>
            <a:ext cx="7347712" cy="2062480"/>
          </a:xfrm>
        </p:spPr>
        <p:txBody>
          <a:bodyPr vert="horz" lIns="0" tIns="0" rIns="0" bIns="0" rtlCol="0" anchor="t">
            <a:noAutofit/>
          </a:bodyPr>
          <a:lstStyle/>
          <a:p>
            <a:pPr algn="r">
              <a:lnSpc>
                <a:spcPct val="100000"/>
              </a:lnSpc>
            </a:pPr>
            <a:r>
              <a:rPr lang="en-US" sz="2800" dirty="0">
                <a:solidFill>
                  <a:schemeClr val="accent6">
                    <a:lumMod val="49000"/>
                  </a:schemeClr>
                </a:solidFill>
                <a:ea typeface="+mn-lt"/>
                <a:cs typeface="+mn-lt"/>
              </a:rPr>
              <a:t>   </a:t>
            </a:r>
            <a:r>
              <a:rPr lang="en-US" sz="2400" dirty="0">
                <a:solidFill>
                  <a:schemeClr val="accent6">
                    <a:lumMod val="49000"/>
                  </a:schemeClr>
                </a:solidFill>
                <a:ea typeface="+mn-lt"/>
                <a:cs typeface="+mn-lt"/>
              </a:rPr>
              <a:t> </a:t>
            </a:r>
            <a:r>
              <a:rPr lang="en-US" sz="2600" dirty="0">
                <a:solidFill>
                  <a:schemeClr val="accent6">
                    <a:lumMod val="49000"/>
                  </a:schemeClr>
                </a:solidFill>
                <a:latin typeface="Californian FB"/>
                <a:ea typeface="+mn-lt"/>
                <a:cs typeface="+mn-lt"/>
              </a:rPr>
              <a:t>Use the columns </a:t>
            </a:r>
            <a:r>
              <a:rPr lang="en-US" sz="2600" dirty="0" err="1">
                <a:solidFill>
                  <a:schemeClr val="accent6">
                    <a:lumMod val="49000"/>
                  </a:schemeClr>
                </a:solidFill>
                <a:latin typeface="Californian FB"/>
                <a:ea typeface="+mn-lt"/>
                <a:cs typeface="+mn-lt"/>
              </a:rPr>
              <a:t>status_type</a:t>
            </a:r>
            <a:r>
              <a:rPr lang="en-US" sz="2600" dirty="0">
                <a:solidFill>
                  <a:schemeClr val="accent6">
                    <a:lumMod val="49000"/>
                  </a:schemeClr>
                </a:solidFill>
                <a:latin typeface="Californian FB"/>
                <a:ea typeface="+mn-lt"/>
                <a:cs typeface="+mn-lt"/>
              </a:rPr>
              <a:t>, </a:t>
            </a:r>
            <a:r>
              <a:rPr lang="en-US" sz="2600" dirty="0" err="1">
                <a:solidFill>
                  <a:schemeClr val="accent6">
                    <a:lumMod val="49000"/>
                  </a:schemeClr>
                </a:solidFill>
                <a:latin typeface="Californian FB"/>
                <a:ea typeface="+mn-lt"/>
                <a:cs typeface="+mn-lt"/>
              </a:rPr>
              <a:t>num_reactions</a:t>
            </a:r>
            <a:r>
              <a:rPr lang="en-US" sz="2600" dirty="0">
                <a:solidFill>
                  <a:schemeClr val="accent6">
                    <a:lumMod val="49000"/>
                  </a:schemeClr>
                </a:solidFill>
                <a:latin typeface="Californian FB"/>
                <a:ea typeface="+mn-lt"/>
                <a:cs typeface="+mn-lt"/>
              </a:rPr>
              <a:t>, </a:t>
            </a:r>
            <a:r>
              <a:rPr lang="en-US" sz="2600" dirty="0" err="1">
                <a:solidFill>
                  <a:schemeClr val="accent6">
                    <a:lumMod val="49000"/>
                  </a:schemeClr>
                </a:solidFill>
                <a:latin typeface="Californian FB"/>
                <a:ea typeface="+mn-lt"/>
                <a:cs typeface="+mn-lt"/>
              </a:rPr>
              <a:t>num_comments</a:t>
            </a:r>
            <a:r>
              <a:rPr lang="en-US" sz="2600" dirty="0">
                <a:solidFill>
                  <a:schemeClr val="accent6">
                    <a:lumMod val="49000"/>
                  </a:schemeClr>
                </a:solidFill>
                <a:latin typeface="Californian FB"/>
                <a:ea typeface="+mn-lt"/>
                <a:cs typeface="+mn-lt"/>
              </a:rPr>
              <a:t>, </a:t>
            </a:r>
            <a:r>
              <a:rPr lang="en-US" sz="2600" dirty="0" err="1">
                <a:solidFill>
                  <a:schemeClr val="accent6">
                    <a:lumMod val="49000"/>
                  </a:schemeClr>
                </a:solidFill>
                <a:latin typeface="Californian FB"/>
                <a:ea typeface="+mn-lt"/>
                <a:cs typeface="+mn-lt"/>
              </a:rPr>
              <a:t>num_shares</a:t>
            </a:r>
            <a:r>
              <a:rPr lang="en-US" sz="2600" dirty="0">
                <a:solidFill>
                  <a:schemeClr val="accent6">
                    <a:lumMod val="49000"/>
                  </a:schemeClr>
                </a:solidFill>
                <a:latin typeface="Californian FB"/>
                <a:ea typeface="+mn-lt"/>
                <a:cs typeface="+mn-lt"/>
              </a:rPr>
              <a:t>, </a:t>
            </a:r>
            <a:r>
              <a:rPr lang="en-US" sz="2600" dirty="0" err="1">
                <a:solidFill>
                  <a:schemeClr val="accent6">
                    <a:lumMod val="49000"/>
                  </a:schemeClr>
                </a:solidFill>
                <a:latin typeface="Californian FB"/>
                <a:ea typeface="+mn-lt"/>
                <a:cs typeface="+mn-lt"/>
              </a:rPr>
              <a:t>num_likes</a:t>
            </a:r>
            <a:r>
              <a:rPr lang="en-US" sz="2600" dirty="0">
                <a:solidFill>
                  <a:schemeClr val="accent6">
                    <a:lumMod val="49000"/>
                  </a:schemeClr>
                </a:solidFill>
                <a:latin typeface="Californian FB"/>
                <a:ea typeface="+mn-lt"/>
                <a:cs typeface="+mn-lt"/>
              </a:rPr>
              <a:t>, </a:t>
            </a:r>
            <a:r>
              <a:rPr lang="en-US" sz="2600" dirty="0" err="1">
                <a:solidFill>
                  <a:schemeClr val="accent6">
                    <a:lumMod val="49000"/>
                  </a:schemeClr>
                </a:solidFill>
                <a:latin typeface="Californian FB"/>
                <a:ea typeface="+mn-lt"/>
                <a:cs typeface="+mn-lt"/>
              </a:rPr>
              <a:t>num_loves</a:t>
            </a:r>
            <a:r>
              <a:rPr lang="en-US" sz="2600" dirty="0">
                <a:solidFill>
                  <a:schemeClr val="accent6">
                    <a:lumMod val="49000"/>
                  </a:schemeClr>
                </a:solidFill>
                <a:latin typeface="Californian FB"/>
                <a:ea typeface="+mn-lt"/>
                <a:cs typeface="+mn-lt"/>
              </a:rPr>
              <a:t>, </a:t>
            </a:r>
            <a:r>
              <a:rPr lang="en-US" sz="2600" dirty="0" err="1">
                <a:solidFill>
                  <a:schemeClr val="accent6">
                    <a:lumMod val="49000"/>
                  </a:schemeClr>
                </a:solidFill>
                <a:latin typeface="Californian FB"/>
                <a:ea typeface="+mn-lt"/>
                <a:cs typeface="+mn-lt"/>
              </a:rPr>
              <a:t>num_wows</a:t>
            </a:r>
            <a:r>
              <a:rPr lang="en-US" sz="2600" dirty="0">
                <a:solidFill>
                  <a:schemeClr val="accent6">
                    <a:lumMod val="49000"/>
                  </a:schemeClr>
                </a:solidFill>
                <a:latin typeface="Californian FB"/>
                <a:ea typeface="+mn-lt"/>
                <a:cs typeface="+mn-lt"/>
              </a:rPr>
              <a:t>, </a:t>
            </a:r>
            <a:r>
              <a:rPr lang="en-US" sz="2600" dirty="0" err="1">
                <a:solidFill>
                  <a:schemeClr val="accent6">
                    <a:lumMod val="49000"/>
                  </a:schemeClr>
                </a:solidFill>
                <a:latin typeface="Californian FB"/>
                <a:ea typeface="+mn-lt"/>
                <a:cs typeface="+mn-lt"/>
              </a:rPr>
              <a:t>num_hahas</a:t>
            </a:r>
            <a:r>
              <a:rPr lang="en-US" sz="2600" dirty="0">
                <a:solidFill>
                  <a:schemeClr val="accent6">
                    <a:lumMod val="49000"/>
                  </a:schemeClr>
                </a:solidFill>
                <a:latin typeface="Californian FB"/>
                <a:ea typeface="+mn-lt"/>
                <a:cs typeface="+mn-lt"/>
              </a:rPr>
              <a:t>, </a:t>
            </a:r>
            <a:r>
              <a:rPr lang="en-US" sz="2600" dirty="0" err="1">
                <a:solidFill>
                  <a:schemeClr val="accent6">
                    <a:lumMod val="49000"/>
                  </a:schemeClr>
                </a:solidFill>
                <a:latin typeface="Californian FB"/>
                <a:ea typeface="+mn-lt"/>
                <a:cs typeface="+mn-lt"/>
              </a:rPr>
              <a:t>num_sads</a:t>
            </a:r>
            <a:r>
              <a:rPr lang="en-US" sz="2600" dirty="0">
                <a:solidFill>
                  <a:schemeClr val="accent6">
                    <a:lumMod val="49000"/>
                  </a:schemeClr>
                </a:solidFill>
                <a:latin typeface="Californian FB"/>
                <a:ea typeface="+mn-lt"/>
                <a:cs typeface="+mn-lt"/>
              </a:rPr>
              <a:t>, and </a:t>
            </a:r>
            <a:r>
              <a:rPr lang="en-US" sz="2600" dirty="0" err="1">
                <a:solidFill>
                  <a:schemeClr val="accent6">
                    <a:lumMod val="49000"/>
                  </a:schemeClr>
                </a:solidFill>
                <a:latin typeface="Californian FB"/>
                <a:ea typeface="+mn-lt"/>
                <a:cs typeface="+mn-lt"/>
              </a:rPr>
              <a:t>num_angrys</a:t>
            </a:r>
            <a:r>
              <a:rPr lang="en-US" sz="2600" dirty="0">
                <a:solidFill>
                  <a:schemeClr val="accent6">
                    <a:lumMod val="49000"/>
                  </a:schemeClr>
                </a:solidFill>
                <a:latin typeface="Californian FB"/>
                <a:ea typeface="+mn-lt"/>
                <a:cs typeface="+mn-lt"/>
              </a:rPr>
              <a:t> to train a K-Means clustering model on the Facebook Live Sellers dataset.</a:t>
            </a:r>
            <a:endParaRPr lang="en-US" sz="2600">
              <a:solidFill>
                <a:schemeClr val="accent6">
                  <a:lumMod val="49000"/>
                </a:schemeClr>
              </a:solidFill>
              <a:latin typeface="Californian FB"/>
            </a:endParaRPr>
          </a:p>
          <a:p>
            <a:pPr algn="r">
              <a:lnSpc>
                <a:spcPct val="100000"/>
              </a:lnSpc>
            </a:pPr>
            <a:endParaRPr lang="en-US" sz="3600" dirty="0">
              <a:solidFill>
                <a:schemeClr val="accent6">
                  <a:lumMod val="49000"/>
                </a:schemeClr>
              </a:solidFill>
              <a:latin typeface="Californian FB"/>
            </a:endParaRPr>
          </a:p>
          <a:p>
            <a:endParaRPr lang="en-US" dirty="0">
              <a:solidFill>
                <a:schemeClr val="accent6">
                  <a:lumMod val="49000"/>
                </a:schemeClr>
              </a:solidFill>
            </a:endParaRPr>
          </a:p>
        </p:txBody>
      </p:sp>
      <p:sp>
        <p:nvSpPr>
          <p:cNvPr id="5" name="Rectangle 4">
            <a:extLst>
              <a:ext uri="{FF2B5EF4-FFF2-40B4-BE49-F238E27FC236}">
                <a16:creationId xmlns:a16="http://schemas.microsoft.com/office/drawing/2014/main" id="{DE440818-6502-A305-7917-FCC730CB806F}"/>
              </a:ext>
            </a:extLst>
          </p:cNvPr>
          <p:cNvSpPr/>
          <p:nvPr/>
        </p:nvSpPr>
        <p:spPr>
          <a:xfrm>
            <a:off x="5466715" y="5299074"/>
            <a:ext cx="6634480" cy="108712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 name="TextBox 5">
            <a:extLst>
              <a:ext uri="{FF2B5EF4-FFF2-40B4-BE49-F238E27FC236}">
                <a16:creationId xmlns:a16="http://schemas.microsoft.com/office/drawing/2014/main" id="{881AB3D4-F69E-7C49-5279-42E39D6D4A30}"/>
              </a:ext>
            </a:extLst>
          </p:cNvPr>
          <p:cNvSpPr txBox="1"/>
          <p:nvPr/>
        </p:nvSpPr>
        <p:spPr>
          <a:xfrm>
            <a:off x="5466080" y="5405120"/>
            <a:ext cx="6543040"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600" dirty="0">
                <a:solidFill>
                  <a:srgbClr val="0A4B9D"/>
                </a:solidFill>
                <a:latin typeface="Californian FB"/>
                <a:ea typeface="+mn-lt"/>
                <a:cs typeface="+mn-lt"/>
              </a:rPr>
              <a:t>Use the elbow method to find the optimum number of clusters.</a:t>
            </a:r>
            <a:endParaRPr lang="en-US" dirty="0">
              <a:latin typeface="Californian FB"/>
            </a:endParaRPr>
          </a:p>
          <a:p>
            <a:endParaRPr lang="en-US" sz="2600" dirty="0">
              <a:solidFill>
                <a:srgbClr val="0A4B9D"/>
              </a:solidFill>
              <a:latin typeface="Californian FB"/>
            </a:endParaRPr>
          </a:p>
        </p:txBody>
      </p:sp>
    </p:spTree>
    <p:extLst>
      <p:ext uri="{BB962C8B-B14F-4D97-AF65-F5344CB8AC3E}">
        <p14:creationId xmlns:p14="http://schemas.microsoft.com/office/powerpoint/2010/main" val="1276562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D14B7-0C10-5596-FC68-C56BDF798F0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4F19BA91-4810-96C8-54D3-40EB4C0828D6}"/>
              </a:ext>
            </a:extLst>
          </p:cNvPr>
          <p:cNvSpPr/>
          <p:nvPr/>
        </p:nvSpPr>
        <p:spPr>
          <a:xfrm>
            <a:off x="0" y="298753"/>
            <a:ext cx="6097485" cy="656121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CEAB80AB-64EE-FD56-71B7-0C50764CCCF0}"/>
              </a:ext>
            </a:extLst>
          </p:cNvPr>
          <p:cNvSpPr>
            <a:spLocks noGrp="1"/>
          </p:cNvSpPr>
          <p:nvPr>
            <p:ph type="title"/>
          </p:nvPr>
        </p:nvSpPr>
        <p:spPr>
          <a:xfrm>
            <a:off x="6454939" y="297688"/>
            <a:ext cx="5255768" cy="557784"/>
          </a:xfrm>
        </p:spPr>
        <p:txBody>
          <a:bodyPr/>
          <a:lstStyle/>
          <a:p>
            <a:pPr>
              <a:lnSpc>
                <a:spcPct val="100000"/>
              </a:lnSpc>
            </a:pPr>
            <a:r>
              <a:rPr lang="en-US" sz="1800" dirty="0">
                <a:latin typeface="Century"/>
              </a:rPr>
              <a:t>APPROACH:</a:t>
            </a:r>
            <a:endParaRPr lang="en-US" sz="1800"/>
          </a:p>
        </p:txBody>
      </p:sp>
      <p:sp>
        <p:nvSpPr>
          <p:cNvPr id="5" name="Slide Number Placeholder 4">
            <a:extLst>
              <a:ext uri="{FF2B5EF4-FFF2-40B4-BE49-F238E27FC236}">
                <a16:creationId xmlns:a16="http://schemas.microsoft.com/office/drawing/2014/main" id="{68D24F7C-FC8B-0350-82E7-847CA7824079}"/>
              </a:ext>
            </a:extLst>
          </p:cNvPr>
          <p:cNvSpPr>
            <a:spLocks noGrp="1"/>
          </p:cNvSpPr>
          <p:nvPr>
            <p:ph type="sldNum" sz="quarter" idx="11"/>
          </p:nvPr>
        </p:nvSpPr>
        <p:spPr/>
        <p:txBody>
          <a:bodyPr/>
          <a:lstStyle/>
          <a:p>
            <a:fld id="{B67B645E-C5E5-4727-B977-D372A0AA71D9}" type="slidenum">
              <a:rPr lang="en-US" smtClean="0"/>
              <a:pPr/>
              <a:t>8</a:t>
            </a:fld>
            <a:endParaRPr lang="en-US" dirty="0"/>
          </a:p>
        </p:txBody>
      </p:sp>
      <p:sp>
        <p:nvSpPr>
          <p:cNvPr id="10" name="Content Placeholder 9">
            <a:extLst>
              <a:ext uri="{FF2B5EF4-FFF2-40B4-BE49-F238E27FC236}">
                <a16:creationId xmlns:a16="http://schemas.microsoft.com/office/drawing/2014/main" id="{02A08C91-63F8-7140-5850-04DC11613726}"/>
              </a:ext>
            </a:extLst>
          </p:cNvPr>
          <p:cNvSpPr>
            <a:spLocks noGrp="1"/>
          </p:cNvSpPr>
          <p:nvPr>
            <p:ph sz="quarter" idx="13"/>
          </p:nvPr>
        </p:nvSpPr>
        <p:spPr>
          <a:xfrm>
            <a:off x="6420102" y="678065"/>
            <a:ext cx="5326163" cy="3427701"/>
          </a:xfrm>
        </p:spPr>
        <p:txBody>
          <a:bodyPr vert="horz" lIns="0" tIns="0" rIns="0" bIns="0" rtlCol="0" anchor="t">
            <a:noAutofit/>
          </a:bodyPr>
          <a:lstStyle/>
          <a:p>
            <a:pPr marL="347345" indent="-347345" algn="just"/>
            <a:r>
              <a:rPr lang="en-US" sz="1800" dirty="0">
                <a:solidFill>
                  <a:schemeClr val="accent6">
                    <a:lumMod val="49000"/>
                  </a:schemeClr>
                </a:solidFill>
                <a:latin typeface="Cambria Math"/>
                <a:ea typeface="Cambria Math"/>
              </a:rPr>
              <a:t>To create a dataset for K-means clustering model containing all numerical datatype values.</a:t>
            </a:r>
          </a:p>
          <a:p>
            <a:pPr marL="347345" indent="-347345" algn="just"/>
            <a:r>
              <a:rPr lang="en-US" sz="1800" dirty="0">
                <a:solidFill>
                  <a:schemeClr val="accent6">
                    <a:lumMod val="49000"/>
                  </a:schemeClr>
                </a:solidFill>
                <a:latin typeface="Cambria Math"/>
                <a:ea typeface="Cambria Math"/>
              </a:rPr>
              <a:t>Using elbow method (finding </a:t>
            </a:r>
            <a:r>
              <a:rPr lang="en-US" sz="1800" dirty="0" err="1">
                <a:solidFill>
                  <a:schemeClr val="accent6">
                    <a:lumMod val="49000"/>
                  </a:schemeClr>
                </a:solidFill>
                <a:latin typeface="Cambria Math"/>
                <a:ea typeface="Cambria Math"/>
              </a:rPr>
              <a:t>wcss</a:t>
            </a:r>
            <a:r>
              <a:rPr lang="en-US" sz="1800" dirty="0">
                <a:solidFill>
                  <a:schemeClr val="accent6">
                    <a:lumMod val="49000"/>
                  </a:schemeClr>
                </a:solidFill>
                <a:latin typeface="Cambria Math"/>
                <a:ea typeface="Cambria Math"/>
              </a:rPr>
              <a:t> for each model having different k)  to find the optimum number of clusters (k).</a:t>
            </a:r>
          </a:p>
          <a:p>
            <a:pPr marL="347345" indent="-347345" algn="just"/>
            <a:r>
              <a:rPr lang="en-US" sz="1800" dirty="0">
                <a:solidFill>
                  <a:schemeClr val="accent6">
                    <a:lumMod val="49000"/>
                  </a:schemeClr>
                </a:solidFill>
                <a:latin typeface="Cambria Math"/>
                <a:ea typeface="Cambria Math"/>
              </a:rPr>
              <a:t>Training the k-means model with the optimum number of clusters found from the elbow method.</a:t>
            </a:r>
          </a:p>
          <a:p>
            <a:pPr marL="347345" indent="-347345" algn="just"/>
            <a:r>
              <a:rPr lang="en-US" sz="1800" dirty="0">
                <a:solidFill>
                  <a:schemeClr val="accent6">
                    <a:lumMod val="49000"/>
                  </a:schemeClr>
                </a:solidFill>
                <a:latin typeface="Cambria Math"/>
                <a:ea typeface="Cambria Math"/>
              </a:rPr>
              <a:t>Converting the data into 2d from 10d using PCA (Principal Component Analysis).</a:t>
            </a:r>
          </a:p>
          <a:p>
            <a:pPr marL="347345" indent="-347345" algn="just"/>
            <a:r>
              <a:rPr lang="en-US" sz="1800" dirty="0">
                <a:solidFill>
                  <a:schemeClr val="accent6">
                    <a:lumMod val="49000"/>
                  </a:schemeClr>
                </a:solidFill>
                <a:latin typeface="Cambria Math"/>
                <a:ea typeface="Cambria Math"/>
              </a:rPr>
              <a:t>Plotting the clusters along with their centroids.</a:t>
            </a:r>
          </a:p>
        </p:txBody>
      </p:sp>
      <p:sp>
        <p:nvSpPr>
          <p:cNvPr id="12" name="TextBox 11">
            <a:extLst>
              <a:ext uri="{FF2B5EF4-FFF2-40B4-BE49-F238E27FC236}">
                <a16:creationId xmlns:a16="http://schemas.microsoft.com/office/drawing/2014/main" id="{E1C30395-AA98-8E14-0D46-69C55C9507CD}"/>
              </a:ext>
            </a:extLst>
          </p:cNvPr>
          <p:cNvSpPr txBox="1"/>
          <p:nvPr/>
        </p:nvSpPr>
        <p:spPr>
          <a:xfrm>
            <a:off x="4233" y="468206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cap="all" dirty="0">
                <a:solidFill>
                  <a:srgbClr val="262626"/>
                </a:solidFill>
                <a:latin typeface="Century"/>
              </a:rPr>
              <a:t>INTERPRETATION:</a:t>
            </a:r>
            <a:endParaRPr lang="en-US" dirty="0"/>
          </a:p>
        </p:txBody>
      </p:sp>
      <p:sp>
        <p:nvSpPr>
          <p:cNvPr id="13" name="TextBox 12">
            <a:extLst>
              <a:ext uri="{FF2B5EF4-FFF2-40B4-BE49-F238E27FC236}">
                <a16:creationId xmlns:a16="http://schemas.microsoft.com/office/drawing/2014/main" id="{51EF614F-D681-2F34-1ED4-72BAEAC85730}"/>
              </a:ext>
            </a:extLst>
          </p:cNvPr>
          <p:cNvSpPr txBox="1"/>
          <p:nvPr/>
        </p:nvSpPr>
        <p:spPr>
          <a:xfrm>
            <a:off x="3212" y="5085841"/>
            <a:ext cx="587586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dirty="0">
                <a:solidFill>
                  <a:srgbClr val="0A4B9D"/>
                </a:solidFill>
                <a:latin typeface="Cambria Math"/>
                <a:ea typeface="Cambria Math"/>
                <a:cs typeface="Arial"/>
              </a:rPr>
              <a:t>Elbow method is used to find the optimum number of clusters. Graph is plotted between wcss (within cluster sum of squares) and k (number of clusters).</a:t>
            </a:r>
          </a:p>
          <a:p>
            <a:pPr marL="285750" indent="-285750" algn="just">
              <a:buFont typeface="Arial"/>
              <a:buChar char="•"/>
            </a:pPr>
            <a:r>
              <a:rPr lang="en-US" dirty="0">
                <a:solidFill>
                  <a:srgbClr val="0A4B9D"/>
                </a:solidFill>
                <a:latin typeface="Cambria Math"/>
                <a:ea typeface="Cambria Math"/>
                <a:cs typeface="Arial"/>
              </a:rPr>
              <a:t>The point of highest dip in the graph after which the decline becomes less significant represents the optimum number of clusters.</a:t>
            </a:r>
          </a:p>
        </p:txBody>
      </p:sp>
      <p:sp>
        <p:nvSpPr>
          <p:cNvPr id="16" name="Rectangle 15">
            <a:extLst>
              <a:ext uri="{FF2B5EF4-FFF2-40B4-BE49-F238E27FC236}">
                <a16:creationId xmlns:a16="http://schemas.microsoft.com/office/drawing/2014/main" id="{603AC087-BD0C-232E-43AB-8BF4DE1E1AA9}"/>
              </a:ext>
            </a:extLst>
          </p:cNvPr>
          <p:cNvSpPr/>
          <p:nvPr/>
        </p:nvSpPr>
        <p:spPr>
          <a:xfrm>
            <a:off x="4114801" y="294217"/>
            <a:ext cx="1983315" cy="4697790"/>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4" name="TextBox 13">
            <a:extLst>
              <a:ext uri="{FF2B5EF4-FFF2-40B4-BE49-F238E27FC236}">
                <a16:creationId xmlns:a16="http://schemas.microsoft.com/office/drawing/2014/main" id="{798CB748-ED69-5DCB-7A75-7598992AE3D4}"/>
              </a:ext>
            </a:extLst>
          </p:cNvPr>
          <p:cNvSpPr txBox="1"/>
          <p:nvPr/>
        </p:nvSpPr>
        <p:spPr>
          <a:xfrm>
            <a:off x="6327986" y="439879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dirty="0">
                <a:solidFill>
                  <a:srgbClr val="262626"/>
                </a:solidFill>
                <a:latin typeface="Century"/>
              </a:rPr>
              <a:t>CONCLUSION:</a:t>
            </a:r>
            <a:endParaRPr lang="en-US"/>
          </a:p>
        </p:txBody>
      </p:sp>
      <p:sp>
        <p:nvSpPr>
          <p:cNvPr id="15" name="TextBox 14">
            <a:extLst>
              <a:ext uri="{FF2B5EF4-FFF2-40B4-BE49-F238E27FC236}">
                <a16:creationId xmlns:a16="http://schemas.microsoft.com/office/drawing/2014/main" id="{65286B2B-BBDE-6F08-2138-5BBCDE6947A5}"/>
              </a:ext>
            </a:extLst>
          </p:cNvPr>
          <p:cNvSpPr txBox="1"/>
          <p:nvPr/>
        </p:nvSpPr>
        <p:spPr>
          <a:xfrm>
            <a:off x="6333067" y="4914053"/>
            <a:ext cx="561128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accent6">
                    <a:lumMod val="49000"/>
                  </a:schemeClr>
                </a:solidFill>
                <a:latin typeface="Cambria Math"/>
              </a:rPr>
              <a:t>Using elbow method, from the graph the optimum number of clusters are three. Hence the K-means model is trained by taking number of clusters as 3.</a:t>
            </a:r>
          </a:p>
        </p:txBody>
      </p:sp>
      <p:pic>
        <p:nvPicPr>
          <p:cNvPr id="8" name="Picture Placeholder 7" descr="A graph with a blue line&#10;&#10;AI-generated content may be incorrect.">
            <a:extLst>
              <a:ext uri="{FF2B5EF4-FFF2-40B4-BE49-F238E27FC236}">
                <a16:creationId xmlns:a16="http://schemas.microsoft.com/office/drawing/2014/main" id="{B21D9E57-F674-27B3-5F04-37BEE91A958F}"/>
              </a:ext>
            </a:extLst>
          </p:cNvPr>
          <p:cNvPicPr>
            <a:picLocks noGrp="1" noChangeAspect="1"/>
          </p:cNvPicPr>
          <p:nvPr>
            <p:ph type="pic" sz="quarter" idx="14"/>
          </p:nvPr>
        </p:nvPicPr>
        <p:blipFill>
          <a:blip r:embed="rId2"/>
          <a:srcRect t="2326" b="2326"/>
          <a:stretch>
            <a:fillRect/>
          </a:stretch>
        </p:blipFill>
        <p:spPr>
          <a:xfrm>
            <a:off x="0" y="579392"/>
            <a:ext cx="5111120" cy="3998071"/>
          </a:xfrm>
          <a:prstGeom prst="rect">
            <a:avLst/>
          </a:prstGeom>
          <a:ln>
            <a:noFill/>
          </a:ln>
          <a:effectLst>
            <a:outerShdw blurRad="292100" dist="139700" dir="2700000" algn="tl" rotWithShape="0">
              <a:srgbClr val="333333">
                <a:alpha val="0"/>
              </a:srgbClr>
            </a:outerShdw>
          </a:effectLst>
        </p:spPr>
      </p:pic>
      <p:sp>
        <p:nvSpPr>
          <p:cNvPr id="7" name="Oval 6">
            <a:extLst>
              <a:ext uri="{FF2B5EF4-FFF2-40B4-BE49-F238E27FC236}">
                <a16:creationId xmlns:a16="http://schemas.microsoft.com/office/drawing/2014/main" id="{591A4286-A95F-886D-7706-D58EDE808F7A}"/>
              </a:ext>
            </a:extLst>
          </p:cNvPr>
          <p:cNvSpPr/>
          <p:nvPr/>
        </p:nvSpPr>
        <p:spPr>
          <a:xfrm>
            <a:off x="1488661" y="3070750"/>
            <a:ext cx="233680" cy="243840"/>
          </a:xfrm>
          <a:prstGeom prst="ellipse">
            <a:avLst/>
          </a:prstGeom>
          <a:noFill/>
          <a:ln w="57150">
            <a:solidFill>
              <a:schemeClr val="tx1"/>
            </a:solid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Tree>
    <p:extLst>
      <p:ext uri="{BB962C8B-B14F-4D97-AF65-F5344CB8AC3E}">
        <p14:creationId xmlns:p14="http://schemas.microsoft.com/office/powerpoint/2010/main" val="2478875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06065-67F5-4F8F-9B23-1224308E6675}"/>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D659932-0394-7F61-A3CA-76E48FAC9383}"/>
              </a:ext>
            </a:extLst>
          </p:cNvPr>
          <p:cNvSpPr/>
          <p:nvPr/>
        </p:nvSpPr>
        <p:spPr>
          <a:xfrm>
            <a:off x="0" y="4839"/>
            <a:ext cx="6097485" cy="4514702"/>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 name="Rectangle 2">
            <a:extLst>
              <a:ext uri="{FF2B5EF4-FFF2-40B4-BE49-F238E27FC236}">
                <a16:creationId xmlns:a16="http://schemas.microsoft.com/office/drawing/2014/main" id="{02BAE07F-95E9-7317-1875-C37DA335D9DE}"/>
              </a:ext>
            </a:extLst>
          </p:cNvPr>
          <p:cNvSpPr/>
          <p:nvPr/>
        </p:nvSpPr>
        <p:spPr>
          <a:xfrm>
            <a:off x="6858000" y="2160210"/>
            <a:ext cx="5335485" cy="4699759"/>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Rectangle 3">
            <a:extLst>
              <a:ext uri="{FF2B5EF4-FFF2-40B4-BE49-F238E27FC236}">
                <a16:creationId xmlns:a16="http://schemas.microsoft.com/office/drawing/2014/main" id="{D1936042-9649-B824-ED51-2B7834045038}"/>
              </a:ext>
            </a:extLst>
          </p:cNvPr>
          <p:cNvSpPr/>
          <p:nvPr/>
        </p:nvSpPr>
        <p:spPr>
          <a:xfrm rot="10800000">
            <a:off x="4114801" y="11187"/>
            <a:ext cx="1983315" cy="4512734"/>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42EC2510-00A2-7C59-D535-F6F89F47347C}"/>
              </a:ext>
            </a:extLst>
          </p:cNvPr>
          <p:cNvSpPr>
            <a:spLocks noGrp="1"/>
          </p:cNvSpPr>
          <p:nvPr>
            <p:ph type="title"/>
          </p:nvPr>
        </p:nvSpPr>
        <p:spPr>
          <a:xfrm>
            <a:off x="6367853" y="297688"/>
            <a:ext cx="5255768" cy="557784"/>
          </a:xfrm>
        </p:spPr>
        <p:txBody>
          <a:bodyPr/>
          <a:lstStyle/>
          <a:p>
            <a:pPr>
              <a:lnSpc>
                <a:spcPct val="100000"/>
              </a:lnSpc>
            </a:pPr>
            <a:r>
              <a:rPr lang="en-US" sz="1800" dirty="0">
                <a:latin typeface="Century"/>
              </a:rPr>
              <a:t>K-MEAN CLUSTER PLOTTING:</a:t>
            </a:r>
          </a:p>
        </p:txBody>
      </p:sp>
      <p:sp>
        <p:nvSpPr>
          <p:cNvPr id="5" name="Slide Number Placeholder 4">
            <a:extLst>
              <a:ext uri="{FF2B5EF4-FFF2-40B4-BE49-F238E27FC236}">
                <a16:creationId xmlns:a16="http://schemas.microsoft.com/office/drawing/2014/main" id="{63DA1B12-AE45-F49E-B720-F9E553D0E1AF}"/>
              </a:ext>
            </a:extLst>
          </p:cNvPr>
          <p:cNvSpPr>
            <a:spLocks noGrp="1"/>
          </p:cNvSpPr>
          <p:nvPr>
            <p:ph type="sldNum" sz="quarter" idx="11"/>
          </p:nvPr>
        </p:nvSpPr>
        <p:spPr/>
        <p:txBody>
          <a:bodyPr/>
          <a:lstStyle/>
          <a:p>
            <a:fld id="{B67B645E-C5E5-4727-B977-D372A0AA71D9}" type="slidenum">
              <a:rPr lang="en-US" smtClean="0"/>
              <a:pPr/>
              <a:t>9</a:t>
            </a:fld>
            <a:endParaRPr lang="en-US" dirty="0"/>
          </a:p>
        </p:txBody>
      </p:sp>
      <p:sp>
        <p:nvSpPr>
          <p:cNvPr id="10" name="Content Placeholder 9">
            <a:extLst>
              <a:ext uri="{FF2B5EF4-FFF2-40B4-BE49-F238E27FC236}">
                <a16:creationId xmlns:a16="http://schemas.microsoft.com/office/drawing/2014/main" id="{3F474234-0471-DADA-C563-9A918DA87901}"/>
              </a:ext>
            </a:extLst>
          </p:cNvPr>
          <p:cNvSpPr>
            <a:spLocks noGrp="1"/>
          </p:cNvSpPr>
          <p:nvPr>
            <p:ph sz="quarter" idx="13"/>
          </p:nvPr>
        </p:nvSpPr>
        <p:spPr>
          <a:xfrm>
            <a:off x="6420102" y="776036"/>
            <a:ext cx="5326163" cy="3427701"/>
          </a:xfrm>
        </p:spPr>
        <p:txBody>
          <a:bodyPr vert="horz" lIns="0" tIns="0" rIns="0" bIns="0" rtlCol="0" anchor="t">
            <a:noAutofit/>
          </a:bodyPr>
          <a:lstStyle/>
          <a:p>
            <a:pPr marL="347345" indent="-347345" algn="just"/>
            <a:r>
              <a:rPr lang="en-US" sz="1800" dirty="0">
                <a:solidFill>
                  <a:schemeClr val="accent6">
                    <a:lumMod val="49000"/>
                  </a:schemeClr>
                </a:solidFill>
                <a:latin typeface="Cambria Math"/>
                <a:ea typeface="Cambria Math"/>
              </a:rPr>
              <a:t>Converting the 10d dataset into 2d and 3d model using PCA (principal component analysis).</a:t>
            </a:r>
          </a:p>
          <a:p>
            <a:pPr marL="347345" indent="-347345" algn="just"/>
            <a:r>
              <a:rPr lang="en-US" sz="1800" dirty="0">
                <a:solidFill>
                  <a:schemeClr val="accent6">
                    <a:lumMod val="49000"/>
                  </a:schemeClr>
                </a:solidFill>
                <a:latin typeface="Cambria Math"/>
                <a:ea typeface="Cambria Math"/>
              </a:rPr>
              <a:t>It is a dimension reduction technique that works based on variance.</a:t>
            </a:r>
          </a:p>
        </p:txBody>
      </p:sp>
      <p:sp>
        <p:nvSpPr>
          <p:cNvPr id="16" name="Rectangle 15">
            <a:extLst>
              <a:ext uri="{FF2B5EF4-FFF2-40B4-BE49-F238E27FC236}">
                <a16:creationId xmlns:a16="http://schemas.microsoft.com/office/drawing/2014/main" id="{05C11574-D2BF-FA99-2C0B-A028B2D32B50}"/>
              </a:ext>
            </a:extLst>
          </p:cNvPr>
          <p:cNvSpPr/>
          <p:nvPr/>
        </p:nvSpPr>
        <p:spPr>
          <a:xfrm rot="5400000">
            <a:off x="6591301" y="1954288"/>
            <a:ext cx="4682972" cy="5122332"/>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8" name="Picture Placeholder 7" descr="A graph with different colored dots&#10;&#10;AI-generated content may be incorrect.">
            <a:extLst>
              <a:ext uri="{FF2B5EF4-FFF2-40B4-BE49-F238E27FC236}">
                <a16:creationId xmlns:a16="http://schemas.microsoft.com/office/drawing/2014/main" id="{45472B0B-FC9F-81F2-460C-1D1F5404EA92}"/>
              </a:ext>
            </a:extLst>
          </p:cNvPr>
          <p:cNvPicPr>
            <a:picLocks noGrp="1" noChangeAspect="1"/>
          </p:cNvPicPr>
          <p:nvPr>
            <p:ph type="pic" sz="quarter" idx="14"/>
          </p:nvPr>
        </p:nvPicPr>
        <p:blipFill>
          <a:blip r:embed="rId2"/>
          <a:srcRect l="3258" r="3258"/>
          <a:stretch>
            <a:fillRect/>
          </a:stretch>
        </p:blipFill>
        <p:spPr>
          <a:xfrm>
            <a:off x="0" y="198392"/>
            <a:ext cx="5111120" cy="3998071"/>
          </a:xfrm>
          <a:prstGeom prst="rect">
            <a:avLst/>
          </a:prstGeom>
          <a:ln>
            <a:noFill/>
          </a:ln>
          <a:effectLst>
            <a:outerShdw blurRad="292100" dist="139700" dir="2700000" algn="tl" rotWithShape="0">
              <a:srgbClr val="333333">
                <a:alpha val="0"/>
              </a:srgbClr>
            </a:outerShdw>
          </a:effectLst>
        </p:spPr>
      </p:pic>
      <p:pic>
        <p:nvPicPr>
          <p:cNvPr id="9" name="Picture Placeholder 7">
            <a:extLst>
              <a:ext uri="{FF2B5EF4-FFF2-40B4-BE49-F238E27FC236}">
                <a16:creationId xmlns:a16="http://schemas.microsoft.com/office/drawing/2014/main" id="{0758224E-095B-5F78-93A4-9A30F818544F}"/>
              </a:ext>
            </a:extLst>
          </p:cNvPr>
          <p:cNvPicPr>
            <a:picLocks noChangeAspect="1"/>
          </p:cNvPicPr>
          <p:nvPr/>
        </p:nvPicPr>
        <p:blipFill>
          <a:blip r:embed="rId3"/>
          <a:srcRect t="9190" b="9190"/>
          <a:stretch>
            <a:fillRect/>
          </a:stretch>
        </p:blipFill>
        <p:spPr>
          <a:xfrm>
            <a:off x="7075714" y="2375536"/>
            <a:ext cx="5111120" cy="3998071"/>
          </a:xfrm>
          <a:prstGeom prst="rect">
            <a:avLst/>
          </a:prstGeom>
          <a:solidFill>
            <a:schemeClr val="accent6">
              <a:lumMod val="75000"/>
            </a:schemeClr>
          </a:solidFill>
          <a:ln>
            <a:noFill/>
          </a:ln>
          <a:effectLst>
            <a:outerShdw blurRad="292100" dist="139700" dir="2700000" algn="tl" rotWithShape="0">
              <a:srgbClr val="333333">
                <a:alpha val="0"/>
              </a:srgbClr>
            </a:outerShdw>
          </a:effectLst>
        </p:spPr>
      </p:pic>
      <p:sp>
        <p:nvSpPr>
          <p:cNvPr id="17" name="TextBox 16">
            <a:extLst>
              <a:ext uri="{FF2B5EF4-FFF2-40B4-BE49-F238E27FC236}">
                <a16:creationId xmlns:a16="http://schemas.microsoft.com/office/drawing/2014/main" id="{B36A6709-3FBB-1BBD-E834-B2E57803C474}"/>
              </a:ext>
            </a:extLst>
          </p:cNvPr>
          <p:cNvSpPr txBox="1"/>
          <p:nvPr/>
        </p:nvSpPr>
        <p:spPr>
          <a:xfrm>
            <a:off x="0" y="4637314"/>
            <a:ext cx="609599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rgbClr val="0A4B9D"/>
                </a:solidFill>
                <a:latin typeface="Cambria Math"/>
                <a:ea typeface="Cambria Math"/>
              </a:rPr>
              <a:t>The number of clusters remain fixed, PCA only compresses the data point initially as </a:t>
            </a:r>
            <a:r>
              <a:rPr lang="en-US" b="1" dirty="0">
                <a:solidFill>
                  <a:srgbClr val="0A4B9D"/>
                </a:solidFill>
                <a:latin typeface="Cambria Math"/>
                <a:ea typeface="Cambria Math"/>
              </a:rPr>
              <a:t>10d [</a:t>
            </a:r>
            <a:r>
              <a:rPr lang="en-US" b="1" err="1">
                <a:solidFill>
                  <a:srgbClr val="0A4B9D"/>
                </a:solidFill>
                <a:latin typeface="Cambria Math"/>
                <a:ea typeface="Cambria Math"/>
              </a:rPr>
              <a:t>x,y,z,a,b,c,d,e,f,g</a:t>
            </a:r>
            <a:r>
              <a:rPr lang="en-US" b="1" dirty="0">
                <a:solidFill>
                  <a:srgbClr val="0A4B9D"/>
                </a:solidFill>
                <a:latin typeface="Cambria Math"/>
                <a:ea typeface="Cambria Math"/>
              </a:rPr>
              <a:t>] to 2d[pc1, pc2]</a:t>
            </a:r>
            <a:r>
              <a:rPr lang="en-US" dirty="0">
                <a:solidFill>
                  <a:srgbClr val="0A4B9D"/>
                </a:solidFill>
                <a:latin typeface="Cambria Math"/>
                <a:ea typeface="Cambria Math"/>
              </a:rPr>
              <a:t>, which are the new axes formed by the combination of 10 columns. </a:t>
            </a:r>
            <a:r>
              <a:rPr lang="en-US" dirty="0">
                <a:solidFill>
                  <a:srgbClr val="0A4B9D"/>
                </a:solidFill>
                <a:ea typeface="+mn-lt"/>
                <a:cs typeface="+mn-lt"/>
              </a:rPr>
              <a:t>This transformation is done by analyzing the </a:t>
            </a:r>
            <a:r>
              <a:rPr lang="en-US" b="1" dirty="0">
                <a:solidFill>
                  <a:srgbClr val="0A4B9D"/>
                </a:solidFill>
                <a:ea typeface="+mn-lt"/>
                <a:cs typeface="+mn-lt"/>
              </a:rPr>
              <a:t>covariance matrix</a:t>
            </a:r>
            <a:r>
              <a:rPr lang="en-US" dirty="0">
                <a:solidFill>
                  <a:srgbClr val="0A4B9D"/>
                </a:solidFill>
                <a:ea typeface="+mn-lt"/>
                <a:cs typeface="+mn-lt"/>
              </a:rPr>
              <a:t> to find directions (principal components) along which the </a:t>
            </a:r>
            <a:r>
              <a:rPr lang="en-US" b="1" dirty="0">
                <a:solidFill>
                  <a:srgbClr val="0A4B9D"/>
                </a:solidFill>
                <a:ea typeface="+mn-lt"/>
                <a:cs typeface="+mn-lt"/>
              </a:rPr>
              <a:t>data varies the most</a:t>
            </a:r>
            <a:r>
              <a:rPr lang="en-US" dirty="0">
                <a:solidFill>
                  <a:srgbClr val="0A4B9D"/>
                </a:solidFill>
                <a:ea typeface="+mn-lt"/>
                <a:cs typeface="+mn-lt"/>
              </a:rPr>
              <a:t>.</a:t>
            </a:r>
            <a:r>
              <a:rPr lang="en-US" dirty="0">
                <a:solidFill>
                  <a:srgbClr val="0A4B9D"/>
                </a:solidFill>
                <a:latin typeface="Aptos Light"/>
                <a:ea typeface="Cambria Math"/>
              </a:rPr>
              <a:t> </a:t>
            </a:r>
            <a:r>
              <a:rPr lang="en-US" dirty="0">
                <a:solidFill>
                  <a:srgbClr val="0A4B9D"/>
                </a:solidFill>
                <a:latin typeface="Cambria Math"/>
                <a:ea typeface="Cambria Math"/>
              </a:rPr>
              <a:t>Thus,</a:t>
            </a:r>
            <a:r>
              <a:rPr lang="en-US" dirty="0">
                <a:solidFill>
                  <a:srgbClr val="0A4B9D"/>
                </a:solidFill>
                <a:latin typeface="Cambria Math"/>
                <a:ea typeface="Cambria Math"/>
                <a:cs typeface="+mn-lt"/>
              </a:rPr>
              <a:t> it </a:t>
            </a:r>
            <a:r>
              <a:rPr lang="en-US" dirty="0">
                <a:solidFill>
                  <a:srgbClr val="0A4B9D"/>
                </a:solidFill>
                <a:ea typeface="+mn-lt"/>
                <a:cs typeface="+mn-lt"/>
              </a:rPr>
              <a:t>simplifies the structure of the data, making it easier to </a:t>
            </a:r>
            <a:r>
              <a:rPr lang="en-US" b="1" dirty="0">
                <a:solidFill>
                  <a:srgbClr val="0A4B9D"/>
                </a:solidFill>
                <a:ea typeface="+mn-lt"/>
                <a:cs typeface="+mn-lt"/>
              </a:rPr>
              <a:t>visualize and cluster.</a:t>
            </a:r>
            <a:endParaRPr lang="en-US" dirty="0">
              <a:solidFill>
                <a:srgbClr val="0A4B9D"/>
              </a:solidFill>
              <a:latin typeface="Cambria Math"/>
              <a:ea typeface="Cambria Math"/>
            </a:endParaRPr>
          </a:p>
        </p:txBody>
      </p:sp>
    </p:spTree>
    <p:extLst>
      <p:ext uri="{BB962C8B-B14F-4D97-AF65-F5344CB8AC3E}">
        <p14:creationId xmlns:p14="http://schemas.microsoft.com/office/powerpoint/2010/main" val="4037536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EAFE6-0FE8-3F8F-E610-442D0D46F15F}"/>
            </a:ext>
          </a:extLst>
        </p:cNvPr>
        <p:cNvGrpSpPr/>
        <p:nvPr/>
      </p:nvGrpSpPr>
      <p:grpSpPr>
        <a:xfrm>
          <a:off x="0" y="0"/>
          <a:ext cx="0" cy="0"/>
          <a:chOff x="0" y="0"/>
          <a:chExt cx="0" cy="0"/>
        </a:xfrm>
      </p:grpSpPr>
      <p:pic>
        <p:nvPicPr>
          <p:cNvPr id="9" name="Picture Placeholder 8" descr="A screen shot of a computer program&#10;&#10;AI-generated content may be incorrect.">
            <a:extLst>
              <a:ext uri="{FF2B5EF4-FFF2-40B4-BE49-F238E27FC236}">
                <a16:creationId xmlns:a16="http://schemas.microsoft.com/office/drawing/2014/main" id="{77155E77-4E34-6001-FB30-7842972C9AD9}"/>
              </a:ext>
            </a:extLst>
          </p:cNvPr>
          <p:cNvPicPr>
            <a:picLocks noGrp="1" noChangeAspect="1"/>
          </p:cNvPicPr>
          <p:nvPr>
            <p:ph type="pic" sz="quarter" idx="11"/>
          </p:nvPr>
        </p:nvPicPr>
        <p:blipFill>
          <a:blip r:embed="rId2"/>
          <a:srcRect t="1201" b="1201"/>
          <a:stretch/>
        </p:blipFill>
        <p:spPr>
          <a:xfrm>
            <a:off x="502920" y="1711864"/>
            <a:ext cx="7188200" cy="4578288"/>
          </a:xfrm>
        </p:spPr>
      </p:pic>
      <p:sp>
        <p:nvSpPr>
          <p:cNvPr id="3" name="Title 2">
            <a:extLst>
              <a:ext uri="{FF2B5EF4-FFF2-40B4-BE49-F238E27FC236}">
                <a16:creationId xmlns:a16="http://schemas.microsoft.com/office/drawing/2014/main" id="{E60E1346-5629-D94B-8ED4-D47AB1EA2D5C}"/>
              </a:ext>
            </a:extLst>
          </p:cNvPr>
          <p:cNvSpPr>
            <a:spLocks noGrp="1"/>
          </p:cNvSpPr>
          <p:nvPr>
            <p:ph type="title"/>
          </p:nvPr>
        </p:nvSpPr>
        <p:spPr>
          <a:xfrm>
            <a:off x="505968" y="831088"/>
            <a:ext cx="6931152" cy="557784"/>
          </a:xfrm>
        </p:spPr>
        <p:txBody>
          <a:bodyPr/>
          <a:lstStyle/>
          <a:p>
            <a:r>
              <a:rPr lang="en-US" sz="3200" dirty="0"/>
              <a:t>Question-5</a:t>
            </a:r>
          </a:p>
        </p:txBody>
      </p:sp>
      <p:sp>
        <p:nvSpPr>
          <p:cNvPr id="11" name="Rectangle 10">
            <a:extLst>
              <a:ext uri="{FF2B5EF4-FFF2-40B4-BE49-F238E27FC236}">
                <a16:creationId xmlns:a16="http://schemas.microsoft.com/office/drawing/2014/main" id="{12AA004B-AB6A-5309-86CC-A5E1328243C8}"/>
              </a:ext>
            </a:extLst>
          </p:cNvPr>
          <p:cNvSpPr/>
          <p:nvPr/>
        </p:nvSpPr>
        <p:spPr>
          <a:xfrm>
            <a:off x="3688715" y="3998595"/>
            <a:ext cx="8402320" cy="154432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BC505C42-3AB8-6FDB-FFD7-B8D1894814EA}"/>
              </a:ext>
            </a:extLst>
          </p:cNvPr>
          <p:cNvSpPr>
            <a:spLocks noGrp="1"/>
          </p:cNvSpPr>
          <p:nvPr>
            <p:ph type="body" sz="quarter" idx="10"/>
          </p:nvPr>
        </p:nvSpPr>
        <p:spPr>
          <a:xfrm>
            <a:off x="4366767" y="4147312"/>
            <a:ext cx="7530592" cy="4480560"/>
          </a:xfrm>
        </p:spPr>
        <p:txBody>
          <a:bodyPr vert="horz" lIns="0" tIns="0" rIns="0" bIns="0" rtlCol="0" anchor="t">
            <a:noAutofit/>
          </a:bodyPr>
          <a:lstStyle/>
          <a:p>
            <a:pPr algn="r">
              <a:lnSpc>
                <a:spcPct val="100000"/>
              </a:lnSpc>
            </a:pPr>
            <a:r>
              <a:rPr lang="en-US" sz="4000" dirty="0">
                <a:solidFill>
                  <a:schemeClr val="accent6">
                    <a:lumMod val="49000"/>
                  </a:schemeClr>
                </a:solidFill>
                <a:latin typeface="Californian FB"/>
                <a:ea typeface="+mn-lt"/>
                <a:cs typeface="+mn-lt"/>
              </a:rPr>
              <a:t>What is the count of different types of posts in the dataset?</a:t>
            </a:r>
            <a:endParaRPr lang="en-US" sz="4000">
              <a:solidFill>
                <a:schemeClr val="accent6">
                  <a:lumMod val="49000"/>
                </a:schemeClr>
              </a:solidFill>
              <a:latin typeface="Californian FB"/>
              <a:ea typeface="+mn-lt"/>
              <a:cs typeface="+mn-lt"/>
            </a:endParaRPr>
          </a:p>
          <a:p>
            <a:pPr algn="r">
              <a:lnSpc>
                <a:spcPct val="100000"/>
              </a:lnSpc>
            </a:pPr>
            <a:endParaRPr lang="en-US" sz="2800" dirty="0">
              <a:solidFill>
                <a:schemeClr val="accent6">
                  <a:lumMod val="49000"/>
                </a:schemeClr>
              </a:solidFill>
              <a:latin typeface="Californian FB"/>
            </a:endParaRPr>
          </a:p>
          <a:p>
            <a:pPr algn="r">
              <a:lnSpc>
                <a:spcPct val="100000"/>
              </a:lnSpc>
            </a:pPr>
            <a:endParaRPr lang="en-US" sz="3600" dirty="0">
              <a:solidFill>
                <a:schemeClr val="accent6">
                  <a:lumMod val="49000"/>
                </a:schemeClr>
              </a:solidFill>
              <a:latin typeface="Californian FB"/>
            </a:endParaRPr>
          </a:p>
          <a:p>
            <a:endParaRPr lang="en-US" dirty="0">
              <a:solidFill>
                <a:schemeClr val="accent6">
                  <a:lumMod val="49000"/>
                </a:schemeClr>
              </a:solidFill>
            </a:endParaRPr>
          </a:p>
        </p:txBody>
      </p:sp>
    </p:spTree>
    <p:extLst>
      <p:ext uri="{BB962C8B-B14F-4D97-AF65-F5344CB8AC3E}">
        <p14:creationId xmlns:p14="http://schemas.microsoft.com/office/powerpoint/2010/main" val="2108497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27B98-508B-3936-B0DE-9E85405D222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573E3E26-13ED-7540-AAE5-AB35E23F1034}"/>
              </a:ext>
            </a:extLst>
          </p:cNvPr>
          <p:cNvSpPr/>
          <p:nvPr/>
        </p:nvSpPr>
        <p:spPr>
          <a:xfrm>
            <a:off x="0" y="4839"/>
            <a:ext cx="6097485" cy="5601822"/>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 name="Rectangle 2">
            <a:extLst>
              <a:ext uri="{FF2B5EF4-FFF2-40B4-BE49-F238E27FC236}">
                <a16:creationId xmlns:a16="http://schemas.microsoft.com/office/drawing/2014/main" id="{3F1FD662-D1E0-1D85-AB7F-71CD83EF3490}"/>
              </a:ext>
            </a:extLst>
          </p:cNvPr>
          <p:cNvSpPr/>
          <p:nvPr/>
        </p:nvSpPr>
        <p:spPr>
          <a:xfrm>
            <a:off x="6858000" y="2160210"/>
            <a:ext cx="5335485" cy="3937759"/>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Rectangle 3">
            <a:extLst>
              <a:ext uri="{FF2B5EF4-FFF2-40B4-BE49-F238E27FC236}">
                <a16:creationId xmlns:a16="http://schemas.microsoft.com/office/drawing/2014/main" id="{156E9857-E56A-ADF0-5966-1AC2A2670C14}"/>
              </a:ext>
            </a:extLst>
          </p:cNvPr>
          <p:cNvSpPr/>
          <p:nvPr/>
        </p:nvSpPr>
        <p:spPr>
          <a:xfrm rot="10800000">
            <a:off x="4175761" y="-9133"/>
            <a:ext cx="1993475" cy="5589694"/>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13F182A9-7FBA-575C-5D02-AE678E1A1DEE}"/>
              </a:ext>
            </a:extLst>
          </p:cNvPr>
          <p:cNvSpPr>
            <a:spLocks noGrp="1"/>
          </p:cNvSpPr>
          <p:nvPr>
            <p:ph type="title"/>
          </p:nvPr>
        </p:nvSpPr>
        <p:spPr>
          <a:xfrm>
            <a:off x="6499933" y="196088"/>
            <a:ext cx="5255768" cy="557784"/>
          </a:xfrm>
        </p:spPr>
        <p:txBody>
          <a:bodyPr/>
          <a:lstStyle/>
          <a:p>
            <a:pPr>
              <a:lnSpc>
                <a:spcPct val="100000"/>
              </a:lnSpc>
            </a:pPr>
            <a:r>
              <a:rPr lang="en-US" sz="1800" dirty="0">
                <a:latin typeface="Century"/>
              </a:rPr>
              <a:t>APPROACH:</a:t>
            </a:r>
          </a:p>
        </p:txBody>
      </p:sp>
      <p:sp>
        <p:nvSpPr>
          <p:cNvPr id="5" name="Slide Number Placeholder 4">
            <a:extLst>
              <a:ext uri="{FF2B5EF4-FFF2-40B4-BE49-F238E27FC236}">
                <a16:creationId xmlns:a16="http://schemas.microsoft.com/office/drawing/2014/main" id="{21D09B21-3889-FDB4-2B80-3E7A829A2552}"/>
              </a:ext>
            </a:extLst>
          </p:cNvPr>
          <p:cNvSpPr>
            <a:spLocks noGrp="1"/>
          </p:cNvSpPr>
          <p:nvPr>
            <p:ph type="sldNum" sz="quarter" idx="11"/>
          </p:nvPr>
        </p:nvSpPr>
        <p:spPr/>
        <p:txBody>
          <a:bodyPr/>
          <a:lstStyle/>
          <a:p>
            <a:fld id="{B67B645E-C5E5-4727-B977-D372A0AA71D9}" type="slidenum">
              <a:rPr lang="en-US" smtClean="0"/>
              <a:pPr/>
              <a:t>11</a:t>
            </a:fld>
            <a:endParaRPr lang="en-US" dirty="0"/>
          </a:p>
        </p:txBody>
      </p:sp>
      <p:sp>
        <p:nvSpPr>
          <p:cNvPr id="10" name="Content Placeholder 9">
            <a:extLst>
              <a:ext uri="{FF2B5EF4-FFF2-40B4-BE49-F238E27FC236}">
                <a16:creationId xmlns:a16="http://schemas.microsoft.com/office/drawing/2014/main" id="{1127146F-B340-66CB-72DA-B4D76C7E6AEE}"/>
              </a:ext>
            </a:extLst>
          </p:cNvPr>
          <p:cNvSpPr>
            <a:spLocks noGrp="1"/>
          </p:cNvSpPr>
          <p:nvPr>
            <p:ph sz="quarter" idx="13"/>
          </p:nvPr>
        </p:nvSpPr>
        <p:spPr>
          <a:xfrm>
            <a:off x="6501382" y="613476"/>
            <a:ext cx="5437923" cy="3498821"/>
          </a:xfrm>
        </p:spPr>
        <p:txBody>
          <a:bodyPr vert="horz" lIns="0" tIns="0" rIns="0" bIns="0" rtlCol="0" anchor="t">
            <a:noAutofit/>
          </a:bodyPr>
          <a:lstStyle/>
          <a:p>
            <a:pPr marL="347345" indent="-347345" algn="just"/>
            <a:r>
              <a:rPr lang="en-US" sz="1800" dirty="0">
                <a:solidFill>
                  <a:schemeClr val="accent6">
                    <a:lumMod val="49000"/>
                  </a:schemeClr>
                </a:solidFill>
                <a:latin typeface="Cambria Math"/>
                <a:ea typeface="Cambria Math"/>
              </a:rPr>
              <a:t>To find the different types of posts present in the dataset</a:t>
            </a:r>
          </a:p>
          <a:p>
            <a:pPr marL="347345" indent="-347345" algn="just"/>
            <a:r>
              <a:rPr lang="en-US" sz="1800" dirty="0">
                <a:solidFill>
                  <a:schemeClr val="accent6">
                    <a:lumMod val="49000"/>
                  </a:schemeClr>
                </a:solidFill>
                <a:latin typeface="Cambria Math"/>
                <a:ea typeface="Cambria Math"/>
              </a:rPr>
              <a:t>Creating a dictionary and using for loop with key as type of post and value as the number of such posts.</a:t>
            </a:r>
          </a:p>
        </p:txBody>
      </p:sp>
      <p:sp>
        <p:nvSpPr>
          <p:cNvPr id="16" name="Rectangle 15">
            <a:extLst>
              <a:ext uri="{FF2B5EF4-FFF2-40B4-BE49-F238E27FC236}">
                <a16:creationId xmlns:a16="http://schemas.microsoft.com/office/drawing/2014/main" id="{55203CD0-D7A8-80A4-C03B-32E5C491137C}"/>
              </a:ext>
            </a:extLst>
          </p:cNvPr>
          <p:cNvSpPr/>
          <p:nvPr/>
        </p:nvSpPr>
        <p:spPr>
          <a:xfrm rot="5400000">
            <a:off x="7465061" y="1547888"/>
            <a:ext cx="3463772" cy="4675292"/>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8" name="Picture Placeholder 7" descr="A screen shot of a computer program&#10;&#10;AI-generated content may be incorrect.">
            <a:extLst>
              <a:ext uri="{FF2B5EF4-FFF2-40B4-BE49-F238E27FC236}">
                <a16:creationId xmlns:a16="http://schemas.microsoft.com/office/drawing/2014/main" id="{B4DB2D1B-C087-B78E-FCCF-A5F65DAA4528}"/>
              </a:ext>
            </a:extLst>
          </p:cNvPr>
          <p:cNvPicPr>
            <a:picLocks noGrp="1" noChangeAspect="1"/>
          </p:cNvPicPr>
          <p:nvPr>
            <p:ph type="pic" sz="quarter" idx="14"/>
          </p:nvPr>
        </p:nvPicPr>
        <p:blipFill>
          <a:blip r:embed="rId2"/>
          <a:srcRect l="1732" r="1732"/>
          <a:stretch>
            <a:fillRect/>
          </a:stretch>
        </p:blipFill>
        <p:spPr>
          <a:xfrm>
            <a:off x="0" y="198392"/>
            <a:ext cx="4796160" cy="3236071"/>
          </a:xfrm>
          <a:prstGeom prst="rect">
            <a:avLst/>
          </a:prstGeom>
          <a:ln>
            <a:noFill/>
          </a:ln>
          <a:effectLst>
            <a:outerShdw blurRad="292100" dist="139700" dir="2700000" algn="tl" rotWithShape="0">
              <a:srgbClr val="333333">
                <a:alpha val="0"/>
              </a:srgbClr>
            </a:outerShdw>
          </a:effectLst>
        </p:spPr>
      </p:pic>
      <p:pic>
        <p:nvPicPr>
          <p:cNvPr id="9" name="Picture Placeholder 7" descr="A screen shot of a computer program&#10;&#10;AI-generated content may be incorrect.">
            <a:extLst>
              <a:ext uri="{FF2B5EF4-FFF2-40B4-BE49-F238E27FC236}">
                <a16:creationId xmlns:a16="http://schemas.microsoft.com/office/drawing/2014/main" id="{B02AF0E1-C3FA-11C5-2803-D98073FC6FAA}"/>
              </a:ext>
            </a:extLst>
          </p:cNvPr>
          <p:cNvPicPr>
            <a:picLocks noChangeAspect="1"/>
          </p:cNvPicPr>
          <p:nvPr/>
        </p:nvPicPr>
        <p:blipFill>
          <a:blip r:embed="rId3"/>
          <a:srcRect l="2974" r="2974"/>
          <a:stretch>
            <a:fillRect/>
          </a:stretch>
        </p:blipFill>
        <p:spPr>
          <a:xfrm>
            <a:off x="1924594" y="3625216"/>
            <a:ext cx="3465200" cy="1966071"/>
          </a:xfrm>
          <a:prstGeom prst="rect">
            <a:avLst/>
          </a:prstGeom>
          <a:solidFill>
            <a:schemeClr val="accent6">
              <a:lumMod val="75000"/>
            </a:schemeClr>
          </a:solidFill>
          <a:ln>
            <a:noFill/>
          </a:ln>
          <a:effectLst>
            <a:outerShdw blurRad="292100" dist="139700" dir="2700000" algn="tl" rotWithShape="0">
              <a:srgbClr val="333333">
                <a:alpha val="0"/>
              </a:srgbClr>
            </a:outerShdw>
          </a:effectLst>
        </p:spPr>
      </p:pic>
      <p:sp>
        <p:nvSpPr>
          <p:cNvPr id="17" name="TextBox 16">
            <a:extLst>
              <a:ext uri="{FF2B5EF4-FFF2-40B4-BE49-F238E27FC236}">
                <a16:creationId xmlns:a16="http://schemas.microsoft.com/office/drawing/2014/main" id="{67E301A5-6E1C-BF28-3DE9-29B25793FACA}"/>
              </a:ext>
            </a:extLst>
          </p:cNvPr>
          <p:cNvSpPr txBox="1"/>
          <p:nvPr/>
        </p:nvSpPr>
        <p:spPr>
          <a:xfrm>
            <a:off x="609600" y="5998754"/>
            <a:ext cx="60959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solidFill>
                  <a:srgbClr val="0A4B9D"/>
                </a:solidFill>
                <a:latin typeface="Cambria Math"/>
                <a:ea typeface="Cambria Math"/>
              </a:rPr>
              <a:t>VISUAL REPRESENTATION USING BAR GRAPH</a:t>
            </a:r>
          </a:p>
        </p:txBody>
      </p:sp>
      <p:pic>
        <p:nvPicPr>
          <p:cNvPr id="7" name="Picture 6" descr="A graph of different types of posts&#10;&#10;AI-generated content may be incorrect.">
            <a:extLst>
              <a:ext uri="{FF2B5EF4-FFF2-40B4-BE49-F238E27FC236}">
                <a16:creationId xmlns:a16="http://schemas.microsoft.com/office/drawing/2014/main" id="{B21EA423-9F65-1E0F-1420-27AF43CF06DC}"/>
              </a:ext>
            </a:extLst>
          </p:cNvPr>
          <p:cNvPicPr>
            <a:picLocks noChangeAspect="1"/>
          </p:cNvPicPr>
          <p:nvPr/>
        </p:nvPicPr>
        <p:blipFill>
          <a:blip r:embed="rId4"/>
          <a:stretch>
            <a:fillRect/>
          </a:stretch>
        </p:blipFill>
        <p:spPr>
          <a:xfrm>
            <a:off x="7411720" y="2599373"/>
            <a:ext cx="4338320" cy="3406775"/>
          </a:xfrm>
          <a:prstGeom prst="rect">
            <a:avLst/>
          </a:prstGeom>
        </p:spPr>
      </p:pic>
      <p:cxnSp>
        <p:nvCxnSpPr>
          <p:cNvPr id="12" name="Connector: Elbow 11">
            <a:extLst>
              <a:ext uri="{FF2B5EF4-FFF2-40B4-BE49-F238E27FC236}">
                <a16:creationId xmlns:a16="http://schemas.microsoft.com/office/drawing/2014/main" id="{ADE88F21-1FD7-F787-92A2-21B9EB4B770C}"/>
              </a:ext>
            </a:extLst>
          </p:cNvPr>
          <p:cNvCxnSpPr/>
          <p:nvPr/>
        </p:nvCxnSpPr>
        <p:spPr>
          <a:xfrm flipV="1">
            <a:off x="5496560" y="5847080"/>
            <a:ext cx="2103120" cy="325120"/>
          </a:xfrm>
          <a:prstGeom prst="bentConnector3">
            <a:avLst/>
          </a:prstGeom>
          <a:ln w="28575">
            <a:solidFill>
              <a:srgbClr val="4472C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412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6F8B6-6DD2-62BD-93E1-6307378236BC}"/>
            </a:ext>
          </a:extLst>
        </p:cNvPr>
        <p:cNvGrpSpPr/>
        <p:nvPr/>
      </p:nvGrpSpPr>
      <p:grpSpPr>
        <a:xfrm>
          <a:off x="0" y="0"/>
          <a:ext cx="0" cy="0"/>
          <a:chOff x="0" y="0"/>
          <a:chExt cx="0" cy="0"/>
        </a:xfrm>
      </p:grpSpPr>
      <p:pic>
        <p:nvPicPr>
          <p:cNvPr id="9" name="Picture Placeholder 8" descr="A screenshot of a computer&#10;&#10;AI-generated content may be incorrect.">
            <a:extLst>
              <a:ext uri="{FF2B5EF4-FFF2-40B4-BE49-F238E27FC236}">
                <a16:creationId xmlns:a16="http://schemas.microsoft.com/office/drawing/2014/main" id="{258D695E-8B32-38B0-A908-28094679D424}"/>
              </a:ext>
            </a:extLst>
          </p:cNvPr>
          <p:cNvPicPr>
            <a:picLocks noGrp="1" noChangeAspect="1"/>
          </p:cNvPicPr>
          <p:nvPr>
            <p:ph type="pic" sz="quarter" idx="11"/>
          </p:nvPr>
        </p:nvPicPr>
        <p:blipFill>
          <a:blip r:embed="rId2"/>
          <a:srcRect l="9251" r="9251"/>
          <a:stretch/>
        </p:blipFill>
        <p:spPr>
          <a:xfrm>
            <a:off x="502920" y="1711864"/>
            <a:ext cx="8244840" cy="3379408"/>
          </a:xfrm>
        </p:spPr>
      </p:pic>
      <p:sp>
        <p:nvSpPr>
          <p:cNvPr id="3" name="Title 2">
            <a:extLst>
              <a:ext uri="{FF2B5EF4-FFF2-40B4-BE49-F238E27FC236}">
                <a16:creationId xmlns:a16="http://schemas.microsoft.com/office/drawing/2014/main" id="{C79E96D0-4A27-FF0F-FF9B-222F0DC8EF41}"/>
              </a:ext>
            </a:extLst>
          </p:cNvPr>
          <p:cNvSpPr>
            <a:spLocks noGrp="1"/>
          </p:cNvSpPr>
          <p:nvPr>
            <p:ph type="title"/>
          </p:nvPr>
        </p:nvSpPr>
        <p:spPr>
          <a:xfrm>
            <a:off x="505968" y="831088"/>
            <a:ext cx="6931152" cy="557784"/>
          </a:xfrm>
        </p:spPr>
        <p:txBody>
          <a:bodyPr/>
          <a:lstStyle/>
          <a:p>
            <a:r>
              <a:rPr lang="en-US" sz="3200" dirty="0"/>
              <a:t>Question-6</a:t>
            </a:r>
            <a:endParaRPr lang="en-US" dirty="0"/>
          </a:p>
        </p:txBody>
      </p:sp>
      <p:sp>
        <p:nvSpPr>
          <p:cNvPr id="11" name="Rectangle 10">
            <a:extLst>
              <a:ext uri="{FF2B5EF4-FFF2-40B4-BE49-F238E27FC236}">
                <a16:creationId xmlns:a16="http://schemas.microsoft.com/office/drawing/2014/main" id="{A089F16A-01C1-160C-712A-E013889DF81A}"/>
              </a:ext>
            </a:extLst>
          </p:cNvPr>
          <p:cNvSpPr/>
          <p:nvPr/>
        </p:nvSpPr>
        <p:spPr>
          <a:xfrm>
            <a:off x="3688715" y="3998595"/>
            <a:ext cx="8402320" cy="184912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00CDA9ED-93E8-A155-7BED-86E19CF8C9A3}"/>
              </a:ext>
            </a:extLst>
          </p:cNvPr>
          <p:cNvSpPr>
            <a:spLocks noGrp="1"/>
          </p:cNvSpPr>
          <p:nvPr>
            <p:ph type="body" sz="quarter" idx="10"/>
          </p:nvPr>
        </p:nvSpPr>
        <p:spPr>
          <a:xfrm>
            <a:off x="3777487" y="4106672"/>
            <a:ext cx="8231632" cy="4480560"/>
          </a:xfrm>
        </p:spPr>
        <p:txBody>
          <a:bodyPr vert="horz" lIns="0" tIns="0" rIns="0" bIns="0" rtlCol="0" anchor="t">
            <a:noAutofit/>
          </a:bodyPr>
          <a:lstStyle/>
          <a:p>
            <a:pPr algn="r">
              <a:lnSpc>
                <a:spcPct val="100000"/>
              </a:lnSpc>
            </a:pPr>
            <a:r>
              <a:rPr lang="en-US" sz="3700" dirty="0">
                <a:solidFill>
                  <a:schemeClr val="accent6">
                    <a:lumMod val="49000"/>
                  </a:schemeClr>
                </a:solidFill>
                <a:latin typeface="Californian FB"/>
                <a:ea typeface="+mn-lt"/>
                <a:cs typeface="+mn-lt"/>
              </a:rPr>
              <a:t>What is the average value of </a:t>
            </a:r>
            <a:r>
              <a:rPr lang="en-US" sz="3700" err="1">
                <a:solidFill>
                  <a:schemeClr val="accent6">
                    <a:lumMod val="49000"/>
                  </a:schemeClr>
                </a:solidFill>
                <a:latin typeface="Californian FB"/>
                <a:ea typeface="+mn-lt"/>
                <a:cs typeface="+mn-lt"/>
              </a:rPr>
              <a:t>num_reaction</a:t>
            </a:r>
            <a:r>
              <a:rPr lang="en-US" sz="3700" dirty="0">
                <a:solidFill>
                  <a:schemeClr val="accent6">
                    <a:lumMod val="49000"/>
                  </a:schemeClr>
                </a:solidFill>
                <a:latin typeface="Californian FB"/>
                <a:ea typeface="+mn-lt"/>
                <a:cs typeface="+mn-lt"/>
              </a:rPr>
              <a:t>, </a:t>
            </a:r>
            <a:r>
              <a:rPr lang="en-US" sz="3700" err="1">
                <a:solidFill>
                  <a:schemeClr val="accent6">
                    <a:lumMod val="49000"/>
                  </a:schemeClr>
                </a:solidFill>
                <a:latin typeface="Californian FB"/>
                <a:ea typeface="+mn-lt"/>
                <a:cs typeface="+mn-lt"/>
              </a:rPr>
              <a:t>num_comments</a:t>
            </a:r>
            <a:r>
              <a:rPr lang="en-US" sz="3700" dirty="0">
                <a:solidFill>
                  <a:schemeClr val="accent6">
                    <a:lumMod val="49000"/>
                  </a:schemeClr>
                </a:solidFill>
                <a:latin typeface="Californian FB"/>
                <a:ea typeface="+mn-lt"/>
                <a:cs typeface="+mn-lt"/>
              </a:rPr>
              <a:t>, </a:t>
            </a:r>
            <a:r>
              <a:rPr lang="en-US" sz="3700" err="1">
                <a:solidFill>
                  <a:schemeClr val="accent6">
                    <a:lumMod val="49000"/>
                  </a:schemeClr>
                </a:solidFill>
                <a:latin typeface="Californian FB"/>
                <a:ea typeface="+mn-lt"/>
                <a:cs typeface="+mn-lt"/>
              </a:rPr>
              <a:t>num_shares</a:t>
            </a:r>
            <a:r>
              <a:rPr lang="en-US" sz="3700" dirty="0">
                <a:solidFill>
                  <a:schemeClr val="accent6">
                    <a:lumMod val="49000"/>
                  </a:schemeClr>
                </a:solidFill>
                <a:latin typeface="Californian FB"/>
                <a:ea typeface="+mn-lt"/>
                <a:cs typeface="+mn-lt"/>
              </a:rPr>
              <a:t> for each post type?</a:t>
            </a:r>
          </a:p>
          <a:p>
            <a:pPr algn="r">
              <a:lnSpc>
                <a:spcPct val="100000"/>
              </a:lnSpc>
            </a:pPr>
            <a:endParaRPr lang="en-US" sz="3700" dirty="0">
              <a:solidFill>
                <a:schemeClr val="accent6">
                  <a:lumMod val="49000"/>
                </a:schemeClr>
              </a:solidFill>
              <a:latin typeface="Californian FB"/>
            </a:endParaRPr>
          </a:p>
          <a:p>
            <a:pPr algn="r">
              <a:lnSpc>
                <a:spcPct val="100000"/>
              </a:lnSpc>
            </a:pPr>
            <a:endParaRPr lang="en-US" sz="3700" dirty="0">
              <a:solidFill>
                <a:schemeClr val="accent6">
                  <a:lumMod val="49000"/>
                </a:schemeClr>
              </a:solidFill>
              <a:latin typeface="Californian FB"/>
            </a:endParaRPr>
          </a:p>
          <a:p>
            <a:endParaRPr lang="en-US" sz="3700" dirty="0">
              <a:solidFill>
                <a:schemeClr val="accent6">
                  <a:lumMod val="49000"/>
                </a:schemeClr>
              </a:solidFill>
            </a:endParaRPr>
          </a:p>
        </p:txBody>
      </p:sp>
    </p:spTree>
    <p:extLst>
      <p:ext uri="{BB962C8B-B14F-4D97-AF65-F5344CB8AC3E}">
        <p14:creationId xmlns:p14="http://schemas.microsoft.com/office/powerpoint/2010/main" val="1227792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703FC-C3A3-01D4-8444-0206C85921C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03CFB0F-6ED5-2F0D-3EEE-E2A71E14AB02}"/>
              </a:ext>
            </a:extLst>
          </p:cNvPr>
          <p:cNvSpPr/>
          <p:nvPr/>
        </p:nvSpPr>
        <p:spPr>
          <a:xfrm>
            <a:off x="0" y="298753"/>
            <a:ext cx="6097485" cy="656121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F1FEA35E-FB72-507E-A68F-0E9ADCC68D30}"/>
              </a:ext>
            </a:extLst>
          </p:cNvPr>
          <p:cNvSpPr>
            <a:spLocks noGrp="1"/>
          </p:cNvSpPr>
          <p:nvPr>
            <p:ph type="title"/>
          </p:nvPr>
        </p:nvSpPr>
        <p:spPr>
          <a:xfrm>
            <a:off x="6393979" y="1049528"/>
            <a:ext cx="5255768" cy="557784"/>
          </a:xfrm>
        </p:spPr>
        <p:txBody>
          <a:bodyPr/>
          <a:lstStyle/>
          <a:p>
            <a:pPr>
              <a:lnSpc>
                <a:spcPct val="100000"/>
              </a:lnSpc>
            </a:pPr>
            <a:r>
              <a:rPr lang="en-US" sz="1800" dirty="0">
                <a:latin typeface="Century"/>
              </a:rPr>
              <a:t>APPROACH:</a:t>
            </a:r>
            <a:endParaRPr lang="en-US" sz="1800"/>
          </a:p>
        </p:txBody>
      </p:sp>
      <p:sp>
        <p:nvSpPr>
          <p:cNvPr id="5" name="Slide Number Placeholder 4">
            <a:extLst>
              <a:ext uri="{FF2B5EF4-FFF2-40B4-BE49-F238E27FC236}">
                <a16:creationId xmlns:a16="http://schemas.microsoft.com/office/drawing/2014/main" id="{24AECB8C-D080-86CF-53E8-1ED4A4544A7F}"/>
              </a:ext>
            </a:extLst>
          </p:cNvPr>
          <p:cNvSpPr>
            <a:spLocks noGrp="1"/>
          </p:cNvSpPr>
          <p:nvPr>
            <p:ph type="sldNum" sz="quarter" idx="11"/>
          </p:nvPr>
        </p:nvSpPr>
        <p:spPr/>
        <p:txBody>
          <a:bodyPr/>
          <a:lstStyle/>
          <a:p>
            <a:fld id="{B67B645E-C5E5-4727-B977-D372A0AA71D9}" type="slidenum">
              <a:rPr lang="en-US" smtClean="0"/>
              <a:pPr/>
              <a:t>13</a:t>
            </a:fld>
            <a:endParaRPr lang="en-US" dirty="0"/>
          </a:p>
        </p:txBody>
      </p:sp>
      <p:sp>
        <p:nvSpPr>
          <p:cNvPr id="10" name="Content Placeholder 9">
            <a:extLst>
              <a:ext uri="{FF2B5EF4-FFF2-40B4-BE49-F238E27FC236}">
                <a16:creationId xmlns:a16="http://schemas.microsoft.com/office/drawing/2014/main" id="{4A912D8B-FA81-7CD8-76EA-2602D44202B8}"/>
              </a:ext>
            </a:extLst>
          </p:cNvPr>
          <p:cNvSpPr>
            <a:spLocks noGrp="1"/>
          </p:cNvSpPr>
          <p:nvPr>
            <p:ph sz="quarter" idx="13"/>
          </p:nvPr>
        </p:nvSpPr>
        <p:spPr>
          <a:xfrm>
            <a:off x="6389622" y="1714385"/>
            <a:ext cx="5326163" cy="3427701"/>
          </a:xfrm>
        </p:spPr>
        <p:txBody>
          <a:bodyPr vert="horz" lIns="0" tIns="0" rIns="0" bIns="0" rtlCol="0" anchor="t">
            <a:noAutofit/>
          </a:bodyPr>
          <a:lstStyle/>
          <a:p>
            <a:pPr marL="347345" indent="-347345" algn="just"/>
            <a:r>
              <a:rPr lang="en-US" dirty="0">
                <a:solidFill>
                  <a:schemeClr val="accent6">
                    <a:lumMod val="49000"/>
                  </a:schemeClr>
                </a:solidFill>
                <a:latin typeface="Cambria Math"/>
                <a:ea typeface="Cambria Math"/>
              </a:rPr>
              <a:t>To segregate the data according the different types of post.</a:t>
            </a:r>
          </a:p>
          <a:p>
            <a:pPr marL="347345" indent="-347345" algn="just"/>
            <a:r>
              <a:rPr lang="en-US" dirty="0">
                <a:solidFill>
                  <a:schemeClr val="accent6">
                    <a:lumMod val="49000"/>
                  </a:schemeClr>
                </a:solidFill>
                <a:latin typeface="Cambria Math"/>
                <a:ea typeface="Cambria Math"/>
              </a:rPr>
              <a:t>Taking mean of number of reactions, number of comments and number of shares.</a:t>
            </a:r>
          </a:p>
          <a:p>
            <a:pPr marL="347345" indent="-347345" algn="just"/>
            <a:r>
              <a:rPr lang="en-US" dirty="0">
                <a:solidFill>
                  <a:schemeClr val="accent6">
                    <a:lumMod val="49000"/>
                  </a:schemeClr>
                </a:solidFill>
                <a:latin typeface="Cambria Math"/>
                <a:ea typeface="Cambria Math"/>
              </a:rPr>
              <a:t>Plotting a grouped bar chart to visualize the data</a:t>
            </a:r>
          </a:p>
        </p:txBody>
      </p:sp>
      <p:sp>
        <p:nvSpPr>
          <p:cNvPr id="16" name="Rectangle 15">
            <a:extLst>
              <a:ext uri="{FF2B5EF4-FFF2-40B4-BE49-F238E27FC236}">
                <a16:creationId xmlns:a16="http://schemas.microsoft.com/office/drawing/2014/main" id="{40FCA471-FF38-6430-C6AE-1AFBC0984BE6}"/>
              </a:ext>
            </a:extLst>
          </p:cNvPr>
          <p:cNvSpPr/>
          <p:nvPr/>
        </p:nvSpPr>
        <p:spPr>
          <a:xfrm>
            <a:off x="4114801" y="294217"/>
            <a:ext cx="1983315" cy="4697790"/>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8" name="Picture Placeholder 7" descr="A screenshot of a computer&#10;&#10;AI-generated content may be incorrect.">
            <a:extLst>
              <a:ext uri="{FF2B5EF4-FFF2-40B4-BE49-F238E27FC236}">
                <a16:creationId xmlns:a16="http://schemas.microsoft.com/office/drawing/2014/main" id="{6F596A4B-A099-AD79-9A33-C56064E8FF9F}"/>
              </a:ext>
            </a:extLst>
          </p:cNvPr>
          <p:cNvPicPr>
            <a:picLocks noGrp="1" noChangeAspect="1"/>
          </p:cNvPicPr>
          <p:nvPr>
            <p:ph type="pic" sz="quarter" idx="14"/>
          </p:nvPr>
        </p:nvPicPr>
        <p:blipFill>
          <a:blip r:embed="rId2"/>
          <a:srcRect l="5762" r="5762"/>
          <a:stretch>
            <a:fillRect/>
          </a:stretch>
        </p:blipFill>
        <p:spPr>
          <a:xfrm>
            <a:off x="1137920" y="4430032"/>
            <a:ext cx="9926960" cy="2098151"/>
          </a:xfrm>
          <a:prstGeom prst="rect">
            <a:avLst/>
          </a:prstGeom>
          <a:ln>
            <a:noFill/>
          </a:ln>
          <a:effectLst>
            <a:outerShdw blurRad="292100" dist="139700" dir="2700000" algn="tl" rotWithShape="0">
              <a:srgbClr val="333333">
                <a:alpha val="0"/>
              </a:srgbClr>
            </a:outerShdw>
          </a:effectLst>
        </p:spPr>
      </p:pic>
      <p:pic>
        <p:nvPicPr>
          <p:cNvPr id="3" name="Picture 2" descr="A graph of different colored bars&#10;&#10;AI-generated content may be incorrect.">
            <a:extLst>
              <a:ext uri="{FF2B5EF4-FFF2-40B4-BE49-F238E27FC236}">
                <a16:creationId xmlns:a16="http://schemas.microsoft.com/office/drawing/2014/main" id="{A3CEE93C-7EB0-9497-C8FA-61925558AF01}"/>
              </a:ext>
            </a:extLst>
          </p:cNvPr>
          <p:cNvPicPr>
            <a:picLocks noChangeAspect="1"/>
          </p:cNvPicPr>
          <p:nvPr/>
        </p:nvPicPr>
        <p:blipFill>
          <a:blip r:embed="rId3"/>
          <a:stretch>
            <a:fillRect/>
          </a:stretch>
        </p:blipFill>
        <p:spPr>
          <a:xfrm>
            <a:off x="-1587" y="572770"/>
            <a:ext cx="4869815" cy="3568700"/>
          </a:xfrm>
          <a:prstGeom prst="rect">
            <a:avLst/>
          </a:prstGeom>
        </p:spPr>
      </p:pic>
    </p:spTree>
    <p:extLst>
      <p:ext uri="{BB962C8B-B14F-4D97-AF65-F5344CB8AC3E}">
        <p14:creationId xmlns:p14="http://schemas.microsoft.com/office/powerpoint/2010/main" val="517124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A2941-3964-171E-E0E4-19D57941686E}"/>
              </a:ext>
            </a:extLst>
          </p:cNvPr>
          <p:cNvSpPr>
            <a:spLocks noGrp="1"/>
          </p:cNvSpPr>
          <p:nvPr>
            <p:ph type="title"/>
          </p:nvPr>
        </p:nvSpPr>
        <p:spPr>
          <a:xfrm>
            <a:off x="1115563" y="2975864"/>
            <a:ext cx="10479088" cy="2587625"/>
          </a:xfrm>
        </p:spPr>
        <p:txBody>
          <a:bodyPr/>
          <a:lstStyle/>
          <a:p>
            <a:r>
              <a:rPr lang="en-US" dirty="0">
                <a:latin typeface="Aptos Serif"/>
                <a:cs typeface="Aptos Serif"/>
              </a:rPr>
              <a:t>Thankyou!</a:t>
            </a:r>
          </a:p>
        </p:txBody>
      </p:sp>
      <p:sp>
        <p:nvSpPr>
          <p:cNvPr id="5" name="L-Shape 4">
            <a:extLst>
              <a:ext uri="{FF2B5EF4-FFF2-40B4-BE49-F238E27FC236}">
                <a16:creationId xmlns:a16="http://schemas.microsoft.com/office/drawing/2014/main" id="{023A709A-D63B-0E49-6C90-7A60FACA13E5}"/>
              </a:ext>
            </a:extLst>
          </p:cNvPr>
          <p:cNvSpPr/>
          <p:nvPr/>
        </p:nvSpPr>
        <p:spPr>
          <a:xfrm rot="5400000" flipH="1">
            <a:off x="5461000" y="-670560"/>
            <a:ext cx="233680" cy="9418320"/>
          </a:xfrm>
          <a:prstGeom prst="corner">
            <a:avLst/>
          </a:prstGeom>
          <a:solidFill>
            <a:schemeClr val="accent6">
              <a:lumMod val="60000"/>
              <a:lumOff val="40000"/>
            </a:schemeClr>
          </a:solidFill>
          <a:ln>
            <a:solidFill>
              <a:schemeClr val="accent6">
                <a:lumMod val="5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 name="TextBox 2">
            <a:extLst>
              <a:ext uri="{FF2B5EF4-FFF2-40B4-BE49-F238E27FC236}">
                <a16:creationId xmlns:a16="http://schemas.microsoft.com/office/drawing/2014/main" id="{88D58055-EFA9-C074-A2F9-F1E9C263B738}"/>
              </a:ext>
            </a:extLst>
          </p:cNvPr>
          <p:cNvSpPr txBox="1"/>
          <p:nvPr/>
        </p:nvSpPr>
        <p:spPr>
          <a:xfrm>
            <a:off x="863600" y="4267200"/>
            <a:ext cx="105664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dirty="0">
                <a:solidFill>
                  <a:srgbClr val="FFFFFF"/>
                </a:solidFill>
                <a:cs typeface="Segoe UI"/>
                <a:hlinkClick r:id="rId2">
                  <a:extLst>
                    <a:ext uri="{A12FA001-AC4F-418D-AE19-62706E023703}">
                      <ahyp:hlinkClr xmlns:ahyp="http://schemas.microsoft.com/office/drawing/2018/hyperlinkcolor" val="tx"/>
                    </a:ext>
                  </a:extLst>
                </a:hlinkClick>
              </a:rPr>
              <a:t>Google colab link-</a:t>
            </a:r>
          </a:p>
          <a:p>
            <a:r>
              <a:rPr lang="en-US" dirty="0">
                <a:solidFill>
                  <a:schemeClr val="bg1"/>
                </a:solidFill>
                <a:ea typeface="+mn-lt"/>
                <a:cs typeface="+mn-lt"/>
                <a:hlinkClick r:id="rId3">
                  <a:extLst>
                    <a:ext uri="{A12FA001-AC4F-418D-AE19-62706E023703}">
                      <ahyp:hlinkClr xmlns:ahyp="http://schemas.microsoft.com/office/drawing/2018/hyperlinkcolor" val="tx"/>
                    </a:ext>
                  </a:extLst>
                </a:hlinkClick>
              </a:rPr>
              <a:t>https://colab.research.google.com/drive/14XxHp_Otf4y2BaO_mfVMW7L9PzNde_6A?usp=sharing</a:t>
            </a:r>
          </a:p>
          <a:p>
            <a:endParaRPr lang="en-US" dirty="0">
              <a:solidFill>
                <a:srgbClr val="FFFFFF"/>
              </a:solidFill>
            </a:endParaRPr>
          </a:p>
        </p:txBody>
      </p:sp>
    </p:spTree>
    <p:extLst>
      <p:ext uri="{BB962C8B-B14F-4D97-AF65-F5344CB8AC3E}">
        <p14:creationId xmlns:p14="http://schemas.microsoft.com/office/powerpoint/2010/main" val="1384780122"/>
      </p:ext>
    </p:extLst>
  </p:cSld>
  <p:clrMapOvr>
    <a:masterClrMapping/>
  </p:clrMapOvr>
</p:sld>
</file>

<file path=ppt/theme/theme1.xml><?xml version="1.0" encoding="utf-8"?>
<a:theme xmlns:a="http://schemas.openxmlformats.org/drawingml/2006/main" name="Custom">
  <a:themeElements>
    <a:clrScheme name="TM66835393">
      <a:dk1>
        <a:srgbClr val="000000"/>
      </a:dk1>
      <a:lt1>
        <a:srgbClr val="FFFFFF"/>
      </a:lt1>
      <a:dk2>
        <a:srgbClr val="44546A"/>
      </a:dk2>
      <a:lt2>
        <a:srgbClr val="E7E6E6"/>
      </a:lt2>
      <a:accent1>
        <a:srgbClr val="55BC7E"/>
      </a:accent1>
      <a:accent2>
        <a:srgbClr val="FFC330"/>
      </a:accent2>
      <a:accent3>
        <a:srgbClr val="BE80FF"/>
      </a:accent3>
      <a:accent4>
        <a:srgbClr val="FF8345"/>
      </a:accent4>
      <a:accent5>
        <a:srgbClr val="FF70BF"/>
      </a:accent5>
      <a:accent6>
        <a:srgbClr val="60A2F5"/>
      </a:accent6>
      <a:hlink>
        <a:srgbClr val="5C4EDC"/>
      </a:hlink>
      <a:folHlink>
        <a:srgbClr val="7FC5FF"/>
      </a:folHlink>
    </a:clrScheme>
    <a:fontScheme name="Custom 32">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66835393_win32_SD_v3" id="{4170EB69-3ACE-4C18-BE4C-C6CBD8BF8A79}" vid="{8A480AB3-AE5D-4813-AA67-ADACC5EA6C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E72E99-0076-433E-AD3A-575A11FAB73D}">
  <ds:schemaRefs>
    <ds:schemaRef ds:uri="http://schemas.microsoft.com/sharepoint/v3/contenttype/forms"/>
  </ds:schemaRefs>
</ds:datastoreItem>
</file>

<file path=customXml/itemProps2.xml><?xml version="1.0" encoding="utf-8"?>
<ds:datastoreItem xmlns:ds="http://schemas.openxmlformats.org/officeDocument/2006/customXml" ds:itemID="{7B247F30-5811-40C0-99EC-CF53200590BE}">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146EB691-4DD5-4558-B7D1-3EA8CC81E2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417</Words>
  <Application>Microsoft Office PowerPoint</Application>
  <PresentationFormat>Widescreen</PresentationFormat>
  <Paragraphs>108</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Custom</vt:lpstr>
      <vt:lpstr>case project-1 </vt:lpstr>
      <vt:lpstr>Dataset analysis: </vt:lpstr>
      <vt:lpstr>Question-1</vt:lpstr>
      <vt:lpstr>APPROACH:</vt:lpstr>
      <vt:lpstr>Question-2</vt:lpstr>
      <vt:lpstr>APPROACH:</vt:lpstr>
      <vt:lpstr>Question-3&amp;4</vt:lpstr>
      <vt:lpstr>APPROACH:</vt:lpstr>
      <vt:lpstr>K-MEAN CLUSTER PLOTTING:</vt:lpstr>
      <vt:lpstr>Question-5</vt:lpstr>
      <vt:lpstr>APPROACH:</vt:lpstr>
      <vt:lpstr>Question-6</vt:lpstr>
      <vt:lpstr>APPROACH:</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1176</cp:revision>
  <dcterms:created xsi:type="dcterms:W3CDTF">2025-06-19T17:09:34Z</dcterms:created>
  <dcterms:modified xsi:type="dcterms:W3CDTF">2025-06-22T14:57:14Z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